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315" r:id="rId2"/>
    <p:sldId id="258" r:id="rId3"/>
    <p:sldId id="332" r:id="rId4"/>
    <p:sldId id="335" r:id="rId5"/>
    <p:sldId id="339" r:id="rId6"/>
    <p:sldId id="304" r:id="rId7"/>
    <p:sldId id="340" r:id="rId8"/>
    <p:sldId id="326" r:id="rId9"/>
    <p:sldId id="317" r:id="rId10"/>
    <p:sldId id="341" r:id="rId11"/>
    <p:sldId id="307" r:id="rId12"/>
    <p:sldId id="309" r:id="rId13"/>
    <p:sldId id="308" r:id="rId14"/>
    <p:sldId id="305" r:id="rId15"/>
    <p:sldId id="321" r:id="rId16"/>
    <p:sldId id="328" r:id="rId17"/>
    <p:sldId id="336" r:id="rId18"/>
    <p:sldId id="329" r:id="rId19"/>
    <p:sldId id="330" r:id="rId20"/>
    <p:sldId id="331" r:id="rId21"/>
    <p:sldId id="345" r:id="rId22"/>
    <p:sldId id="346" r:id="rId23"/>
    <p:sldId id="348" r:id="rId24"/>
    <p:sldId id="347" r:id="rId25"/>
    <p:sldId id="349" r:id="rId26"/>
    <p:sldId id="262" r:id="rId27"/>
    <p:sldId id="286" r:id="rId28"/>
    <p:sldId id="291" r:id="rId29"/>
    <p:sldId id="34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F54E9"/>
    <a:srgbClr val="3333CC"/>
    <a:srgbClr val="003399"/>
    <a:srgbClr val="FB4D52"/>
    <a:srgbClr val="000066"/>
    <a:srgbClr val="F2644C"/>
    <a:srgbClr val="FDFDFD"/>
    <a:srgbClr val="FEFEFE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00" autoAdjust="0"/>
    <p:restoredTop sz="96028" autoAdjust="0"/>
  </p:normalViewPr>
  <p:slideViewPr>
    <p:cSldViewPr snapToGrid="0" showGuides="1">
      <p:cViewPr varScale="1">
        <p:scale>
          <a:sx n="62" d="100"/>
          <a:sy n="62" d="100"/>
        </p:scale>
        <p:origin x="10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87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8ECFB-A090-4F31-8C3B-BDF8C279E4E2}" type="datetimeFigureOut">
              <a:rPr lang="zh-TW" altLang="en-US" smtClean="0"/>
              <a:pPr/>
              <a:t>2026/10/17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9C1D-CC96-4CBE-8D52-A7BE6BABCF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C6893-B2FF-4FC9-828B-E51D12DD35FE}" type="datetimeFigureOut">
              <a:rPr lang="zh-CN" altLang="en-US" smtClean="0"/>
              <a:pPr/>
              <a:t>2026/10/17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DCA2B-51A2-41A2-A7E4-0961F8DD1A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75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CDCA2B-51A2-41A2-A7E4-0961F8DD1AD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787946-F38A-442D-8B4B-7C33473CC73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1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>
            <a:alphaModFix amt="85000"/>
            <a:duotone>
              <a:prstClr val="black"/>
              <a:srgbClr val="1F54E9">
                <a:tint val="45000"/>
                <a:satMod val="400000"/>
              </a:srgbClr>
            </a:duotone>
            <a:lum bright="12000" contrast="64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355" b="657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99">
                  <a:alpha val="56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6636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42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backquound.jpg"/>
          <p:cNvPicPr>
            <a:picLocks noGrp="1" noChangeAspect="1"/>
          </p:cNvPicPr>
          <p:nvPr isPhoto="1" userDrawn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542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/>
          <p:nvPr userDrawn="1"/>
        </p:nvGrpSpPr>
        <p:grpSpPr>
          <a:xfrm flipH="1">
            <a:off x="0" y="0"/>
            <a:ext cx="12191999" cy="6874934"/>
            <a:chOff x="0" y="-8467"/>
            <a:chExt cx="12198354" cy="6874934"/>
          </a:xfrm>
        </p:grpSpPr>
        <p:sp>
          <p:nvSpPr>
            <p:cNvPr id="8" name="Isosceles Triangle 26"/>
            <p:cNvSpPr/>
            <p:nvPr userDrawn="1"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00066">
                <a:alpha val="7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3333CC">
                <a:alpha val="7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27"/>
            <p:cNvSpPr/>
            <p:nvPr userDrawn="1"/>
          </p:nvSpPr>
          <p:spPr>
            <a:xfrm>
              <a:off x="9877810" y="0"/>
              <a:ext cx="2320544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>
                <a:alpha val="3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4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23"/>
            <p:cNvSpPr/>
            <p:nvPr userDrawn="1"/>
          </p:nvSpPr>
          <p:spPr>
            <a:xfrm>
              <a:off x="10077549" y="-8467"/>
              <a:ext cx="2111277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3333CC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25"/>
            <p:cNvSpPr/>
            <p:nvPr userDrawn="1"/>
          </p:nvSpPr>
          <p:spPr>
            <a:xfrm>
              <a:off x="10077550" y="-8467"/>
              <a:ext cx="2114451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66">
                <a:alpha val="89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02060">
                <a:alpha val="8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03399">
                <a:alpha val="8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21542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>
            <a:alphaModFix amt="85000"/>
            <a:duotone>
              <a:prstClr val="black"/>
              <a:srgbClr val="1F54E9">
                <a:tint val="45000"/>
                <a:satMod val="400000"/>
              </a:srgbClr>
            </a:duotone>
            <a:lum contrast="40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355" b="657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99">
                  <a:alpha val="56000"/>
                </a:srgb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/>
        </p:spPr>
      </p:pic>
      <p:sp>
        <p:nvSpPr>
          <p:cNvPr id="3" name="矩形 2"/>
          <p:cNvSpPr/>
          <p:nvPr userDrawn="1"/>
        </p:nvSpPr>
        <p:spPr>
          <a:xfrm>
            <a:off x="2333767" y="0"/>
            <a:ext cx="985823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36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1075851" y="1999365"/>
            <a:ext cx="2099721" cy="209917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359647" y="1999365"/>
            <a:ext cx="2099721" cy="209917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5643442" y="1999365"/>
            <a:ext cx="2099721" cy="209917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7927238" y="1999365"/>
            <a:ext cx="2099721" cy="209917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7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2760469" y="3762240"/>
            <a:ext cx="2286595" cy="2144716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905405" y="3762240"/>
            <a:ext cx="2286595" cy="2144716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7510957" y="1497707"/>
            <a:ext cx="2286595" cy="2144716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9905405" y="1497707"/>
            <a:ext cx="2286595" cy="2144716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5128492" y="1497707"/>
            <a:ext cx="2286595" cy="2144716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5128492" y="3762240"/>
            <a:ext cx="2286595" cy="2144716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08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folio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770932" y="1938208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2511028" y="1938208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1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770932" y="3666554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3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511028" y="3666554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8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8106090" y="1938208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9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9846185" y="1938208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0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8106090" y="3666554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9846185" y="3666554"/>
            <a:ext cx="1582823" cy="1581377"/>
          </a:xfrm>
          <a:prstGeom prst="rect">
            <a:avLst/>
          </a:prstGeom>
          <a:effectLst/>
        </p:spPr>
        <p:txBody>
          <a:bodyPr rtlCol="0">
            <a:normAutofit/>
          </a:bodyPr>
          <a:lstStyle>
            <a:lvl1pPr marL="0" indent="0">
              <a:buNone/>
              <a:defRPr sz="1800">
                <a:ln>
                  <a:noFill/>
                </a:ln>
                <a:solidFill>
                  <a:schemeClr val="tx2"/>
                </a:solidFill>
                <a:latin typeface="Lato Light"/>
                <a:cs typeface="Lato Light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771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1402735" y="1935281"/>
            <a:ext cx="4031978" cy="2263140"/>
          </a:xfrm>
          <a:prstGeom prst="rect">
            <a:avLst/>
          </a:prstGeom>
          <a:noFill/>
        </p:spPr>
        <p:txBody>
          <a:bodyPr rtlCol="0"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Picture Placeholder 17"/>
          <p:cNvSpPr>
            <a:spLocks noGrp="1"/>
          </p:cNvSpPr>
          <p:nvPr>
            <p:ph type="pic" sz="quarter" idx="16"/>
          </p:nvPr>
        </p:nvSpPr>
        <p:spPr>
          <a:xfrm>
            <a:off x="6731357" y="1935281"/>
            <a:ext cx="4031978" cy="2263140"/>
          </a:xfrm>
          <a:prstGeom prst="rect">
            <a:avLst/>
          </a:prstGeom>
          <a:noFill/>
        </p:spPr>
        <p:txBody>
          <a:bodyPr rtlCol="0"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1944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2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84" r:id="rId2"/>
    <p:sldLayoutId id="2147483661" r:id="rId3"/>
    <p:sldLayoutId id="2147483687" r:id="rId4"/>
    <p:sldLayoutId id="2147483686" r:id="rId5"/>
    <p:sldLayoutId id="2147483685" r:id="rId6"/>
    <p:sldLayoutId id="2147483663" r:id="rId7"/>
    <p:sldLayoutId id="2147483664" r:id="rId8"/>
    <p:sldLayoutId id="2147483679" r:id="rId9"/>
    <p:sldLayoutId id="2147483683" r:id="rId10"/>
  </p:sldLayoutIdLst>
  <p:hf hdr="0" ftr="0" dt="0"/>
  <p:txStyles>
    <p:titleStyle>
      <a:lvl1pPr algn="l" defTabSz="914083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228600" indent="-228600" algn="l" defTabSz="9140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1pPr>
      <a:lvl2pPr marL="685800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2pPr>
      <a:lvl3pPr marL="1142683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3pPr>
      <a:lvl4pPr marL="1599883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4pPr>
      <a:lvl5pPr marL="2057083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effectLst/>
          <a:latin typeface="Lato" panose="020F0502020204030203" pitchFamily="34" charset="0"/>
          <a:ea typeface="+mn-ea"/>
          <a:cs typeface="+mn-cs"/>
        </a:defRPr>
      </a:lvl5pPr>
      <a:lvl6pPr marL="2513965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0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3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3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83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83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0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7.xml"/><Relationship Id="rId7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0.xml"/><Relationship Id="rId10" Type="http://schemas.openxmlformats.org/officeDocument/2006/relationships/slide" Target="slide26.xml"/><Relationship Id="rId4" Type="http://schemas.openxmlformats.org/officeDocument/2006/relationships/slide" Target="slide5.xml"/><Relationship Id="rId9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%E9%9C%80%E6%B1%82%E5%88%86%E6%9E%90" TargetMode="External"/><Relationship Id="rId2" Type="http://schemas.openxmlformats.org/officeDocument/2006/relationships/hyperlink" Target="https://zh.wikipedia.org/wiki/%E8%BD%AF%E4%BB%B6%E5%B7%A5%E7%A8%8B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5_1"/>
          <p:cNvSpPr/>
          <p:nvPr/>
        </p:nvSpPr>
        <p:spPr>
          <a:xfrm>
            <a:off x="3263039" y="815438"/>
            <a:ext cx="5293552" cy="5293552"/>
          </a:xfrm>
          <a:prstGeom prst="ellipse">
            <a:avLst/>
          </a:prstGeom>
          <a:solidFill>
            <a:srgbClr val="000066">
              <a:alpha val="83000"/>
            </a:srgbClr>
          </a:solidFill>
          <a:ln>
            <a:solidFill>
              <a:srgbClr val="00B0F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60"/>
          <p:cNvSpPr txBox="1"/>
          <p:nvPr/>
        </p:nvSpPr>
        <p:spPr>
          <a:xfrm>
            <a:off x="4692295" y="1161122"/>
            <a:ext cx="2262159" cy="1563505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2020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62"/>
          <p:cNvSpPr txBox="1"/>
          <p:nvPr/>
        </p:nvSpPr>
        <p:spPr>
          <a:xfrm>
            <a:off x="4512141" y="2761206"/>
            <a:ext cx="2905411" cy="827919"/>
          </a:xfrm>
          <a:prstGeom prst="rect">
            <a:avLst/>
          </a:prstGeom>
          <a:solidFill>
            <a:srgbClr val="000066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+mn-ea"/>
                <a:sym typeface="+mn-lt"/>
              </a:rPr>
              <a:t>iTech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+mn-ea"/>
                <a:sym typeface="+mn-lt"/>
              </a:rPr>
              <a:t> System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6" name="直接连接符 32"/>
          <p:cNvCxnSpPr/>
          <p:nvPr/>
        </p:nvCxnSpPr>
        <p:spPr>
          <a:xfrm>
            <a:off x="5625548" y="3867892"/>
            <a:ext cx="219443" cy="0"/>
          </a:xfrm>
          <a:prstGeom prst="line">
            <a:avLst/>
          </a:prstGeom>
          <a:solidFill>
            <a:srgbClr val="002060"/>
          </a:solidFill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33"/>
          <p:cNvCxnSpPr/>
          <p:nvPr/>
        </p:nvCxnSpPr>
        <p:spPr>
          <a:xfrm>
            <a:off x="5843428" y="3867892"/>
            <a:ext cx="219443" cy="0"/>
          </a:xfrm>
          <a:prstGeom prst="line">
            <a:avLst/>
          </a:prstGeom>
          <a:solidFill>
            <a:srgbClr val="002060"/>
          </a:solidFill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34"/>
          <p:cNvCxnSpPr/>
          <p:nvPr/>
        </p:nvCxnSpPr>
        <p:spPr>
          <a:xfrm>
            <a:off x="6061306" y="3867892"/>
            <a:ext cx="219443" cy="0"/>
          </a:xfrm>
          <a:prstGeom prst="line">
            <a:avLst/>
          </a:prstGeom>
          <a:solidFill>
            <a:srgbClr val="002060"/>
          </a:solidFill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35"/>
          <p:cNvCxnSpPr/>
          <p:nvPr/>
        </p:nvCxnSpPr>
        <p:spPr>
          <a:xfrm>
            <a:off x="6280749" y="3867892"/>
            <a:ext cx="219443" cy="0"/>
          </a:xfrm>
          <a:prstGeom prst="line">
            <a:avLst/>
          </a:prstGeom>
          <a:solidFill>
            <a:srgbClr val="002060"/>
          </a:solidFill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3917732"/>
            <a:ext cx="12192000" cy="2940268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lvl="0" indent="-514350">
              <a:lnSpc>
                <a:spcPct val="130000"/>
              </a:lnSpc>
              <a:buClr>
                <a:srgbClr val="000066"/>
              </a:buClr>
              <a:buFont typeface="Wingdings" pitchFamily="2" charset="2"/>
              <a:buChar char="Ø"/>
              <a:defRPr/>
            </a:pPr>
            <a:endParaRPr lang="zh-CN" altLang="en-US" sz="2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hlinkClick r:id="rId2" action="ppaction://hlinksldjump"/>
          </p:cNvPr>
          <p:cNvSpPr txBox="1"/>
          <p:nvPr/>
        </p:nvSpPr>
        <p:spPr>
          <a:xfrm>
            <a:off x="1800000" y="4320000"/>
            <a:ext cx="1596670" cy="6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zh-TW" altLang="en-US" sz="2800" b="1" dirty="0">
                <a:solidFill>
                  <a:schemeClr val="tx2"/>
                </a:solidFill>
                <a:cs typeface="+mn-ea"/>
                <a:sym typeface="+mn-lt"/>
              </a:rPr>
              <a:t> </a:t>
            </a: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前 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文本框 16">
            <a:hlinkClick r:id="rId3" action="ppaction://hlinksldjump"/>
          </p:cNvPr>
          <p:cNvSpPr txBox="1"/>
          <p:nvPr/>
        </p:nvSpPr>
        <p:spPr>
          <a:xfrm>
            <a:off x="1800000" y="5760000"/>
            <a:ext cx="2079349" cy="60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en-US" altLang="zh-TW" sz="2800" b="1" dirty="0">
                <a:solidFill>
                  <a:schemeClr val="tx2"/>
                </a:solidFill>
                <a:cs typeface="+mn-ea"/>
                <a:sym typeface="+mn-lt"/>
              </a:rPr>
              <a:t> </a:t>
            </a:r>
            <a:r>
              <a:rPr lang="en-US" altLang="zh-TW" sz="2800" b="1" dirty="0">
                <a:solidFill>
                  <a:srgbClr val="000066"/>
                </a:solidFill>
                <a:cs typeface="+mn-ea"/>
                <a:sym typeface="+mn-lt"/>
              </a:rPr>
              <a:t>Flowchart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hlinkClick r:id="rId4" action="ppaction://hlinksldjump"/>
          </p:cNvPr>
          <p:cNvSpPr txBox="1"/>
          <p:nvPr/>
        </p:nvSpPr>
        <p:spPr>
          <a:xfrm>
            <a:off x="1800000" y="5040000"/>
            <a:ext cx="2049518" cy="60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 </a:t>
            </a:r>
            <a:r>
              <a:rPr lang="en-US" altLang="zh-TW" sz="2800" b="1" dirty="0">
                <a:solidFill>
                  <a:srgbClr val="000066"/>
                </a:solidFill>
                <a:cs typeface="+mn-ea"/>
                <a:sym typeface="+mn-lt"/>
              </a:rPr>
              <a:t>Use Case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hlinkClick r:id="rId5" action="ppaction://hlinksldjump"/>
          </p:cNvPr>
          <p:cNvSpPr txBox="1"/>
          <p:nvPr/>
        </p:nvSpPr>
        <p:spPr>
          <a:xfrm>
            <a:off x="5040000" y="4320000"/>
            <a:ext cx="2060179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en-US" altLang="zh-TW" sz="2800" b="1" dirty="0">
                <a:solidFill>
                  <a:srgbClr val="000066"/>
                </a:solidFill>
                <a:cs typeface="+mn-ea"/>
                <a:sym typeface="+mn-lt"/>
              </a:rPr>
              <a:t> ER Model 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sp>
        <p:nvSpPr>
          <p:cNvPr id="35" name="文本框 16">
            <a:hlinkClick r:id="rId6" action="ppaction://hlinksldjump"/>
          </p:cNvPr>
          <p:cNvSpPr txBox="1"/>
          <p:nvPr/>
        </p:nvSpPr>
        <p:spPr>
          <a:xfrm>
            <a:off x="8280000" y="5040000"/>
            <a:ext cx="244299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 功 能 頁 面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4589858" y="724437"/>
            <a:ext cx="3005957" cy="2816109"/>
            <a:chOff x="4589858" y="410760"/>
            <a:chExt cx="3005957" cy="2816109"/>
          </a:xfrm>
        </p:grpSpPr>
        <p:sp>
          <p:nvSpPr>
            <p:cNvPr id="2" name="Oval 65_1"/>
            <p:cNvSpPr/>
            <p:nvPr/>
          </p:nvSpPr>
          <p:spPr>
            <a:xfrm>
              <a:off x="4589858" y="410760"/>
              <a:ext cx="3005957" cy="2816109"/>
            </a:xfrm>
            <a:prstGeom prst="ellipse">
              <a:avLst/>
            </a:prstGeom>
            <a:solidFill>
              <a:srgbClr val="000066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542002" y="950229"/>
              <a:ext cx="1107996" cy="7518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rPr>
                <a:t>目</a:t>
              </a:r>
              <a:r>
                <a:rPr kumimoji="0" lang="zh-TW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cs typeface="+mn-ea"/>
                  <a:sym typeface="+mn-lt"/>
                </a:rPr>
                <a:t>錄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  <p:cNvSpPr/>
            <p:nvPr/>
          </p:nvSpPr>
          <p:spPr>
            <a:xfrm>
              <a:off x="4710545" y="1968699"/>
              <a:ext cx="2770910" cy="5336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cs typeface="+mn-ea"/>
                  <a:sym typeface="+mn-lt"/>
                </a:rPr>
                <a:t>CONTNETS</a:t>
              </a:r>
            </a:p>
          </p:txBody>
        </p:sp>
        <p:grpSp>
          <p:nvGrpSpPr>
            <p:cNvPr id="46" name="组合 11"/>
            <p:cNvGrpSpPr/>
            <p:nvPr/>
          </p:nvGrpSpPr>
          <p:grpSpPr>
            <a:xfrm>
              <a:off x="5690209" y="1872727"/>
              <a:ext cx="874644" cy="287149"/>
              <a:chOff x="5658678" y="3733058"/>
              <a:chExt cx="874644" cy="507866"/>
            </a:xfrm>
          </p:grpSpPr>
          <p:cxnSp>
            <p:nvCxnSpPr>
              <p:cNvPr id="47" name="直接连接符 32"/>
              <p:cNvCxnSpPr/>
              <p:nvPr/>
            </p:nvCxnSpPr>
            <p:spPr>
              <a:xfrm>
                <a:off x="5625548" y="3867892"/>
                <a:ext cx="219443" cy="0"/>
              </a:xfrm>
              <a:prstGeom prst="line">
                <a:avLst/>
              </a:prstGeom>
              <a:ln w="381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33"/>
              <p:cNvCxnSpPr/>
              <p:nvPr/>
            </p:nvCxnSpPr>
            <p:spPr>
              <a:xfrm>
                <a:off x="5843428" y="3867892"/>
                <a:ext cx="219443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34"/>
              <p:cNvCxnSpPr/>
              <p:nvPr/>
            </p:nvCxnSpPr>
            <p:spPr>
              <a:xfrm>
                <a:off x="6061306" y="3867892"/>
                <a:ext cx="219443" cy="0"/>
              </a:xfrm>
              <a:prstGeom prst="line">
                <a:avLst/>
              </a:prstGeom>
              <a:ln w="381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35"/>
              <p:cNvCxnSpPr/>
              <p:nvPr/>
            </p:nvCxnSpPr>
            <p:spPr>
              <a:xfrm>
                <a:off x="6280749" y="3867892"/>
                <a:ext cx="219443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文本框 16">
            <a:hlinkClick r:id="rId7" action="ppaction://hlinksldjump"/>
          </p:cNvPr>
          <p:cNvSpPr txBox="1"/>
          <p:nvPr/>
        </p:nvSpPr>
        <p:spPr>
          <a:xfrm>
            <a:off x="5040000" y="5040000"/>
            <a:ext cx="194647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 架 構 圖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sp>
        <p:nvSpPr>
          <p:cNvPr id="40" name="文本框 16">
            <a:hlinkClick r:id="rId8" action="ppaction://hlinksldjump"/>
          </p:cNvPr>
          <p:cNvSpPr txBox="1"/>
          <p:nvPr/>
        </p:nvSpPr>
        <p:spPr>
          <a:xfrm>
            <a:off x="5040000" y="5760000"/>
            <a:ext cx="234644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 開 發 環 境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sp>
        <p:nvSpPr>
          <p:cNvPr id="41" name="文本框 16">
            <a:hlinkClick r:id="rId9" action="ppaction://hlinksldjump"/>
          </p:cNvPr>
          <p:cNvSpPr txBox="1"/>
          <p:nvPr/>
        </p:nvSpPr>
        <p:spPr>
          <a:xfrm>
            <a:off x="8280000" y="4320000"/>
            <a:ext cx="2377490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TW" altLang="en-US" sz="2800" b="1" dirty="0">
                <a:solidFill>
                  <a:schemeClr val="tx2"/>
                </a:solidFill>
                <a:cs typeface="+mn-ea"/>
                <a:sym typeface="+mn-lt"/>
              </a:rPr>
              <a:t> </a:t>
            </a: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使 用 技 術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  <p:sp>
        <p:nvSpPr>
          <p:cNvPr id="43" name="文本框 16">
            <a:hlinkClick r:id="rId10" action="ppaction://hlinksldjump"/>
          </p:cNvPr>
          <p:cNvSpPr txBox="1"/>
          <p:nvPr/>
        </p:nvSpPr>
        <p:spPr>
          <a:xfrm>
            <a:off x="8280000" y="5760000"/>
            <a:ext cx="225290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TW" altLang="en-US" sz="2800" b="1" dirty="0">
                <a:solidFill>
                  <a:srgbClr val="000066"/>
                </a:solidFill>
                <a:cs typeface="+mn-ea"/>
                <a:sym typeface="+mn-lt"/>
              </a:rPr>
              <a:t> 創 意 團 隊</a:t>
            </a:r>
            <a:endParaRPr lang="zh-CN" altLang="en-US" sz="2800" b="1" dirty="0">
              <a:solidFill>
                <a:srgbClr val="000066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820608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19616" y="472966"/>
            <a:ext cx="9194163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1200"/>
              </a:spcAft>
            </a:pPr>
            <a:endParaRPr lang="en-US" altLang="zh-TW" sz="32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盱衡國內製造業，雖然業者已多數引進</a:t>
            </a:r>
            <a:r>
              <a:rPr lang="en-US" altLang="zh-TW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ERP/MRP</a:t>
            </a: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。</a:t>
            </a:r>
            <a:endParaRPr lang="en-US" altLang="zh-TW" sz="2800" b="1" dirty="0">
              <a:solidFill>
                <a:srgbClr val="3333CC"/>
              </a:solidFill>
              <a:latin typeface="微軟正黑體" pitchFamily="34" charset="-120"/>
              <a:ea typeface="微軟正黑體" pitchFamily="34" charset="-120"/>
              <a:cs typeface="微軟正黑體 Light" pitchFamily="34" charset="-12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但實際上​，大部份工廠</a:t>
            </a:r>
            <a:r>
              <a:rPr lang="en-US" altLang="zh-TW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e</a:t>
            </a: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化程度不足，</a:t>
            </a:r>
            <a:endParaRPr lang="en-US" altLang="zh-TW" sz="2800" b="1" dirty="0">
              <a:solidFill>
                <a:srgbClr val="3333CC"/>
              </a:solidFill>
              <a:latin typeface="微軟正黑體" pitchFamily="34" charset="-120"/>
              <a:ea typeface="微軟正黑體" pitchFamily="34" charset="-120"/>
              <a:cs typeface="微軟正黑體 Light" pitchFamily="34" charset="-12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所謂自動產生的報表，又往往無法滿足使用者的需求。</a:t>
            </a:r>
            <a:endParaRPr lang="en-US" altLang="zh-TW" sz="2800" b="1" dirty="0">
              <a:solidFill>
                <a:srgbClr val="3333CC"/>
              </a:solidFill>
              <a:latin typeface="微軟正黑體" pitchFamily="34" charset="-120"/>
              <a:ea typeface="微軟正黑體" pitchFamily="34" charset="-120"/>
              <a:cs typeface="微軟正黑體 Light" pitchFamily="34" charset="-12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本專題希望能由使用者的角度，</a:t>
            </a:r>
            <a:endParaRPr lang="en-US" altLang="zh-TW" sz="2800" b="1" dirty="0">
              <a:solidFill>
                <a:srgbClr val="3333CC"/>
              </a:solidFill>
              <a:latin typeface="微軟正黑體" pitchFamily="34" charset="-120"/>
              <a:ea typeface="微軟正黑體" pitchFamily="34" charset="-120"/>
              <a:cs typeface="微軟正黑體 Light" pitchFamily="34" charset="-12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發展​全自動化系統來整合內部資源，</a:t>
            </a:r>
            <a:endParaRPr lang="en-US" altLang="zh-TW" sz="2800" b="1" dirty="0">
              <a:solidFill>
                <a:srgbClr val="3333CC"/>
              </a:solidFill>
              <a:latin typeface="微軟正黑體" pitchFamily="34" charset="-120"/>
              <a:ea typeface="微軟正黑體" pitchFamily="34" charset="-120"/>
              <a:cs typeface="微軟正黑體 Light" pitchFamily="34" charset="-12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800" b="1" dirty="0">
                <a:solidFill>
                  <a:srgbClr val="3333CC"/>
                </a:solidFill>
                <a:latin typeface="微軟正黑體" pitchFamily="34" charset="-120"/>
                <a:ea typeface="微軟正黑體" pitchFamily="34" charset="-120"/>
                <a:cs typeface="微軟正黑體 Light" pitchFamily="34" charset="-120"/>
              </a:rPr>
              <a:t>及時產生所需要的資訊，以期能應用此系統來降低人為處理的時間和錯誤，提升效率。</a:t>
            </a:r>
            <a:endParaRPr lang="en-US" altLang="zh-TW" sz="2800" b="1" dirty="0">
              <a:solidFill>
                <a:srgbClr val="3333CC"/>
              </a:solidFill>
              <a:latin typeface="微軟正黑體" pitchFamily="34" charset="-120"/>
              <a:ea typeface="微軟正黑體" pitchFamily="34" charset="-120"/>
              <a:cs typeface="微軟正黑體 Light" pitchFamily="34" charset="-120"/>
            </a:endParaRPr>
          </a:p>
        </p:txBody>
      </p:sp>
      <p:sp>
        <p:nvSpPr>
          <p:cNvPr id="8" name="圓角矩形 7">
            <a:hlinkClick r:id="rId2" action="ppaction://hlinksldjump"/>
          </p:cNvPr>
          <p:cNvSpPr/>
          <p:nvPr/>
        </p:nvSpPr>
        <p:spPr>
          <a:xfrm>
            <a:off x="0" y="0"/>
            <a:ext cx="2758966" cy="740979"/>
          </a:xfrm>
          <a:prstGeom prst="roundRect">
            <a:avLst/>
          </a:prstGeom>
          <a:solidFill>
            <a:srgbClr val="3333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前    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65_1"/>
          <p:cNvSpPr/>
          <p:nvPr/>
        </p:nvSpPr>
        <p:spPr>
          <a:xfrm>
            <a:off x="8640000" y="360000"/>
            <a:ext cx="2908221" cy="2494251"/>
          </a:xfrm>
          <a:prstGeom prst="ellipse">
            <a:avLst/>
          </a:prstGeom>
          <a:solidFill>
            <a:srgbClr val="000066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4029" y="434379"/>
            <a:ext cx="6351587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群組 3"/>
          <p:cNvGrpSpPr/>
          <p:nvPr/>
        </p:nvGrpSpPr>
        <p:grpSpPr>
          <a:xfrm>
            <a:off x="8640000" y="1072055"/>
            <a:ext cx="2783242" cy="2885494"/>
            <a:chOff x="5542002" y="744443"/>
            <a:chExt cx="2783242" cy="2885494"/>
          </a:xfrm>
        </p:grpSpPr>
        <p:sp>
          <p:nvSpPr>
            <p:cNvPr id="6" name="文本框 2"/>
            <p:cNvSpPr txBox="1"/>
            <p:nvPr/>
          </p:nvSpPr>
          <p:spPr>
            <a:xfrm>
              <a:off x="5542002" y="950229"/>
              <a:ext cx="184731" cy="423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 dirty="0">
                <a:sym typeface="+mn-lt"/>
              </a:endParaRPr>
            </a:p>
          </p:txBody>
        </p:sp>
        <p:sp>
          <p:nvSpPr>
            <p:cNvPr id="7" name="矩形 6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  <p:cNvSpPr/>
            <p:nvPr/>
          </p:nvSpPr>
          <p:spPr>
            <a:xfrm>
              <a:off x="5554334" y="744443"/>
              <a:ext cx="2770910" cy="10120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2400" b="1" dirty="0">
                  <a:solidFill>
                    <a:schemeClr val="bg2"/>
                  </a:solidFill>
                  <a:cs typeface="+mn-ea"/>
                  <a:sym typeface="+mn-lt"/>
                </a:rPr>
                <a:t>生產區塊</a:t>
              </a:r>
              <a:endParaRPr lang="en-US" altLang="zh-TW" sz="2400" b="1" dirty="0">
                <a:solidFill>
                  <a:schemeClr val="bg2"/>
                </a:solidFill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2400" b="1" dirty="0">
                  <a:solidFill>
                    <a:schemeClr val="bg2"/>
                  </a:solidFill>
                  <a:cs typeface="+mn-ea"/>
                  <a:sym typeface="+mn-lt"/>
                </a:rPr>
                <a:t>示意圖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8" name="组合 11"/>
            <p:cNvGrpSpPr/>
            <p:nvPr/>
          </p:nvGrpSpPr>
          <p:grpSpPr>
            <a:xfrm>
              <a:off x="5657079" y="3629937"/>
              <a:ext cx="655201" cy="0"/>
              <a:chOff x="5625548" y="3867892"/>
              <a:chExt cx="655201" cy="0"/>
            </a:xfrm>
          </p:grpSpPr>
          <p:cxnSp>
            <p:nvCxnSpPr>
              <p:cNvPr id="9" name="直接连接符 32"/>
              <p:cNvCxnSpPr/>
              <p:nvPr/>
            </p:nvCxnSpPr>
            <p:spPr>
              <a:xfrm>
                <a:off x="5625548" y="3867892"/>
                <a:ext cx="219443" cy="0"/>
              </a:xfrm>
              <a:prstGeom prst="line">
                <a:avLst/>
              </a:prstGeom>
              <a:ln w="381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34"/>
              <p:cNvCxnSpPr/>
              <p:nvPr/>
            </p:nvCxnSpPr>
            <p:spPr>
              <a:xfrm>
                <a:off x="6061306" y="3867892"/>
                <a:ext cx="219443" cy="0"/>
              </a:xfrm>
              <a:prstGeom prst="line">
                <a:avLst/>
              </a:prstGeom>
              <a:ln w="381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Oval 65_1"/>
          <p:cNvSpPr/>
          <p:nvPr/>
        </p:nvSpPr>
        <p:spPr>
          <a:xfrm>
            <a:off x="8640000" y="3796610"/>
            <a:ext cx="2908221" cy="2494251"/>
          </a:xfrm>
          <a:prstGeom prst="ellipse">
            <a:avLst/>
          </a:prstGeom>
          <a:solidFill>
            <a:srgbClr val="000066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/>
          <p:nvPr/>
        </p:nvSpPr>
        <p:spPr>
          <a:xfrm>
            <a:off x="8640000" y="4320000"/>
            <a:ext cx="2770910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b="1" dirty="0">
                <a:solidFill>
                  <a:schemeClr val="bg2"/>
                </a:solidFill>
                <a:cs typeface="+mn-ea"/>
                <a:sym typeface="+mn-lt"/>
              </a:rPr>
              <a:t>供應鏈</a:t>
            </a:r>
            <a:endParaRPr lang="en-US" altLang="zh-TW" sz="2400" b="1" dirty="0">
              <a:solidFill>
                <a:schemeClr val="bg2"/>
              </a:solidFill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+mn-ea"/>
                <a:sym typeface="+mn-lt"/>
              </a:rPr>
              <a:t>相關廠商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cs typeface="+mn-ea"/>
                <a:sym typeface="+mn-lt"/>
              </a:rPr>
              <a:t>示意圖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弧形箭號 (左彎) 17"/>
          <p:cNvSpPr/>
          <p:nvPr/>
        </p:nvSpPr>
        <p:spPr>
          <a:xfrm>
            <a:off x="7472855" y="1939159"/>
            <a:ext cx="961697" cy="3026979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弧形向右箭號 19"/>
          <p:cNvSpPr/>
          <p:nvPr/>
        </p:nvSpPr>
        <p:spPr>
          <a:xfrm flipV="1">
            <a:off x="683003" y="1790148"/>
            <a:ext cx="914400" cy="3105808"/>
          </a:xfrm>
          <a:prstGeom prst="curved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828690" y="2963917"/>
            <a:ext cx="2806262" cy="7567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8686798" y="2932387"/>
            <a:ext cx="2885091" cy="756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8639505" y="3026980"/>
            <a:ext cx="2916620" cy="677917"/>
          </a:xfrm>
          <a:prstGeom prst="roundRect">
            <a:avLst/>
          </a:prstGeom>
          <a:noFill/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8734096" y="3121572"/>
            <a:ext cx="2912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000066"/>
                </a:solidFill>
              </a:rPr>
              <a:t>息息相關  緊密相連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5601" y="3392129"/>
            <a:ext cx="5572125" cy="3274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圓角矩形 23">
            <a:hlinkClick r:id="rId4" action="ppaction://hlinksldjump"/>
          </p:cNvPr>
          <p:cNvSpPr/>
          <p:nvPr/>
        </p:nvSpPr>
        <p:spPr>
          <a:xfrm>
            <a:off x="0" y="0"/>
            <a:ext cx="2403987" cy="740979"/>
          </a:xfrm>
          <a:prstGeom prst="roundRect">
            <a:avLst/>
          </a:prstGeom>
          <a:solidFill>
            <a:srgbClr val="3333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前    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2949677" y="234956"/>
            <a:ext cx="8480323" cy="5880538"/>
          </a:xfrm>
          <a:prstGeom prst="round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>
              <a:lnSpc>
                <a:spcPct val="150000"/>
              </a:lnSpc>
            </a:pPr>
            <a:r>
              <a:rPr lang="zh-TW" altLang="en-US" sz="3200" dirty="0">
                <a:solidFill>
                  <a:srgbClr val="3333CC"/>
                </a:solidFill>
              </a:rPr>
              <a:t>由使用者案例圖</a:t>
            </a:r>
            <a:r>
              <a:rPr lang="en-US" altLang="zh-TW" sz="3200" dirty="0">
                <a:solidFill>
                  <a:srgbClr val="3333CC"/>
                </a:solidFill>
              </a:rPr>
              <a:t>(Use Case Diagram)</a:t>
            </a:r>
            <a:r>
              <a:rPr lang="zh-TW" altLang="en-US" sz="3200" dirty="0">
                <a:solidFill>
                  <a:srgbClr val="3333CC"/>
                </a:solidFill>
              </a:rPr>
              <a:t>可瞭解</a:t>
            </a:r>
            <a:r>
              <a:rPr lang="en-US" altLang="zh-TW" sz="3200" dirty="0">
                <a:solidFill>
                  <a:srgbClr val="3333CC"/>
                </a:solidFill>
              </a:rPr>
              <a:t>:</a:t>
            </a:r>
          </a:p>
          <a:p>
            <a:pPr marL="3619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3200" dirty="0">
                <a:solidFill>
                  <a:srgbClr val="3333CC"/>
                </a:solidFill>
              </a:rPr>
              <a:t>  Actor(</a:t>
            </a:r>
            <a:r>
              <a:rPr lang="zh-TW" altLang="en-US" sz="3200" dirty="0">
                <a:solidFill>
                  <a:srgbClr val="3333CC"/>
                </a:solidFill>
              </a:rPr>
              <a:t>參與者</a:t>
            </a:r>
            <a:r>
              <a:rPr lang="en-US" altLang="zh-TW" sz="3200" dirty="0">
                <a:solidFill>
                  <a:srgbClr val="3333CC"/>
                </a:solidFill>
              </a:rPr>
              <a:t>)</a:t>
            </a:r>
            <a:r>
              <a:rPr lang="zh-TW" altLang="en-US" sz="3200" dirty="0">
                <a:solidFill>
                  <a:srgbClr val="3333CC"/>
                </a:solidFill>
              </a:rPr>
              <a:t>角色</a:t>
            </a:r>
            <a:r>
              <a:rPr lang="en-US" altLang="zh-TW" sz="3200" dirty="0">
                <a:solidFill>
                  <a:srgbClr val="3333CC"/>
                </a:solidFill>
              </a:rPr>
              <a:t>:  </a:t>
            </a:r>
            <a:r>
              <a:rPr lang="zh-TW" altLang="en-US" sz="3200" dirty="0">
                <a:solidFill>
                  <a:srgbClr val="3333CC"/>
                </a:solidFill>
              </a:rPr>
              <a:t>顧客、職員及主管</a:t>
            </a:r>
          </a:p>
          <a:p>
            <a:pPr marL="361950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 sz="3200" dirty="0">
                <a:solidFill>
                  <a:srgbClr val="3333CC"/>
                </a:solidFill>
              </a:rPr>
              <a:t>  </a:t>
            </a:r>
            <a:r>
              <a:rPr lang="en-US" altLang="zh-TW" sz="3200" dirty="0">
                <a:solidFill>
                  <a:srgbClr val="3333CC"/>
                </a:solidFill>
              </a:rPr>
              <a:t>Actor</a:t>
            </a:r>
            <a:r>
              <a:rPr lang="zh-TW" altLang="en-US" sz="3200" dirty="0">
                <a:solidFill>
                  <a:srgbClr val="3333CC"/>
                </a:solidFill>
              </a:rPr>
              <a:t>與各</a:t>
            </a:r>
            <a:r>
              <a:rPr lang="en-US" altLang="zh-TW" sz="3200" dirty="0">
                <a:solidFill>
                  <a:srgbClr val="3333CC"/>
                </a:solidFill>
              </a:rPr>
              <a:t>Use Case (</a:t>
            </a:r>
            <a:r>
              <a:rPr lang="zh-TW" altLang="en-US" sz="3200" dirty="0">
                <a:solidFill>
                  <a:srgbClr val="3333CC"/>
                </a:solidFill>
              </a:rPr>
              <a:t>使用案例</a:t>
            </a:r>
            <a:r>
              <a:rPr lang="en-US" altLang="zh-TW" sz="3200" dirty="0">
                <a:solidFill>
                  <a:srgbClr val="3333CC"/>
                </a:solidFill>
              </a:rPr>
              <a:t>)</a:t>
            </a:r>
            <a:r>
              <a:rPr lang="zh-TW" altLang="en-US" sz="3200" dirty="0">
                <a:solidFill>
                  <a:srgbClr val="3333CC"/>
                </a:solidFill>
              </a:rPr>
              <a:t>的關係</a:t>
            </a:r>
          </a:p>
          <a:p>
            <a:pPr marL="361950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 sz="3200" dirty="0">
                <a:solidFill>
                  <a:srgbClr val="3333CC"/>
                </a:solidFill>
              </a:rPr>
              <a:t> 各</a:t>
            </a:r>
            <a:r>
              <a:rPr lang="en-US" altLang="zh-TW" sz="3200" dirty="0">
                <a:solidFill>
                  <a:srgbClr val="3333CC"/>
                </a:solidFill>
              </a:rPr>
              <a:t>Use Case</a:t>
            </a:r>
            <a:r>
              <a:rPr lang="zh-TW" altLang="en-US" sz="3200" dirty="0">
                <a:solidFill>
                  <a:srgbClr val="3333CC"/>
                </a:solidFill>
              </a:rPr>
              <a:t>間的</a:t>
            </a:r>
            <a:r>
              <a:rPr lang="en-US" altLang="zh-TW" sz="3200" dirty="0">
                <a:solidFill>
                  <a:srgbClr val="3333CC"/>
                </a:solidFill>
              </a:rPr>
              <a:t>include</a:t>
            </a:r>
            <a:r>
              <a:rPr lang="zh-TW" altLang="en-US" sz="3200" dirty="0">
                <a:solidFill>
                  <a:srgbClr val="3333CC"/>
                </a:solidFill>
              </a:rPr>
              <a:t>和</a:t>
            </a:r>
            <a:r>
              <a:rPr lang="en-US" altLang="zh-TW" sz="3200" dirty="0">
                <a:solidFill>
                  <a:srgbClr val="3333CC"/>
                </a:solidFill>
              </a:rPr>
              <a:t>extend</a:t>
            </a:r>
            <a:r>
              <a:rPr lang="zh-TW" altLang="en-US" sz="3200" dirty="0">
                <a:solidFill>
                  <a:srgbClr val="3333CC"/>
                </a:solidFill>
              </a:rPr>
              <a:t>關聯</a:t>
            </a:r>
            <a:endParaRPr lang="en-US" altLang="zh-TW" sz="3200" dirty="0">
              <a:solidFill>
                <a:srgbClr val="3333CC"/>
              </a:solidFill>
            </a:endParaRPr>
          </a:p>
        </p:txBody>
      </p:sp>
      <p:sp>
        <p:nvSpPr>
          <p:cNvPr id="6" name="圓角矩形 5">
            <a:hlinkClick r:id="rId2" action="ppaction://hlinksldjump"/>
          </p:cNvPr>
          <p:cNvSpPr/>
          <p:nvPr/>
        </p:nvSpPr>
        <p:spPr>
          <a:xfrm>
            <a:off x="0" y="0"/>
            <a:ext cx="2853559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>
                <a:solidFill>
                  <a:srgbClr val="FFFFFF"/>
                </a:solidFill>
              </a:rPr>
              <a:t>Use Case</a:t>
            </a:r>
            <a:endParaRPr lang="zh-TW" altLang="en-US" sz="4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git\Firstprojectclass\powerpoint-document\UML_itech_V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9062" y="0"/>
            <a:ext cx="9842938" cy="6858000"/>
          </a:xfrm>
          <a:prstGeom prst="rect">
            <a:avLst/>
          </a:prstGeom>
          <a:noFill/>
        </p:spPr>
      </p:pic>
      <p:sp>
        <p:nvSpPr>
          <p:cNvPr id="7" name="圓角矩形 6">
            <a:hlinkClick r:id="rId3" action="ppaction://hlinksldjump"/>
          </p:cNvPr>
          <p:cNvSpPr/>
          <p:nvPr/>
        </p:nvSpPr>
        <p:spPr>
          <a:xfrm>
            <a:off x="0" y="0"/>
            <a:ext cx="286932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Use Case</a:t>
            </a:r>
            <a:endParaRPr lang="zh-TW" altLang="en-US" sz="4000" dirty="0"/>
          </a:p>
        </p:txBody>
      </p:sp>
      <p:sp>
        <p:nvSpPr>
          <p:cNvPr id="8" name="Isosceles Triangle 26"/>
          <p:cNvSpPr/>
          <p:nvPr/>
        </p:nvSpPr>
        <p:spPr>
          <a:xfrm flipH="1">
            <a:off x="6351" y="3056467"/>
            <a:ext cx="3257969" cy="3810000"/>
          </a:xfrm>
          <a:prstGeom prst="triangle">
            <a:avLst>
              <a:gd name="adj" fmla="val 100000"/>
            </a:avLst>
          </a:prstGeom>
          <a:solidFill>
            <a:srgbClr val="00006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5" name="Straight Connector 20"/>
          <p:cNvCxnSpPr/>
          <p:nvPr/>
        </p:nvCxnSpPr>
        <p:spPr>
          <a:xfrm>
            <a:off x="9524" y="3689880"/>
            <a:ext cx="4761076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3124284" y="339213"/>
            <a:ext cx="7774773" cy="5058274"/>
          </a:xfrm>
          <a:prstGeom prst="round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8288" indent="-268288">
              <a:lnSpc>
                <a:spcPct val="150000"/>
              </a:lnSpc>
              <a:buFontTx/>
              <a:buChar char="-"/>
            </a:pPr>
            <a:endParaRPr lang="en-US" altLang="zh-TW" sz="2400" dirty="0">
              <a:solidFill>
                <a:srgbClr val="3333CC"/>
              </a:solidFill>
              <a:latin typeface="+mj-lt"/>
            </a:endParaRPr>
          </a:p>
          <a:p>
            <a:pPr marL="361950" indent="-279400">
              <a:lnSpc>
                <a:spcPct val="150000"/>
              </a:lnSpc>
            </a:pPr>
            <a:r>
              <a:rPr lang="zh-TW" altLang="en-US" sz="3200" dirty="0">
                <a:solidFill>
                  <a:srgbClr val="3333CC"/>
                </a:solidFill>
              </a:rPr>
              <a:t>根據流程圖可以清楚表達</a:t>
            </a:r>
            <a:r>
              <a:rPr lang="en-US" altLang="zh-TW" sz="3200" dirty="0">
                <a:solidFill>
                  <a:srgbClr val="3333CC"/>
                </a:solidFill>
              </a:rPr>
              <a:t>:</a:t>
            </a:r>
          </a:p>
          <a:p>
            <a:pPr marL="361950" indent="-279400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 sz="3200" dirty="0">
                <a:solidFill>
                  <a:srgbClr val="3333CC"/>
                </a:solidFill>
              </a:rPr>
              <a:t> 流程的每一個關鍵節點 </a:t>
            </a:r>
            <a:r>
              <a:rPr lang="en-US" altLang="zh-TW" sz="3200" dirty="0">
                <a:solidFill>
                  <a:srgbClr val="3333CC"/>
                </a:solidFill>
              </a:rPr>
              <a:t>(</a:t>
            </a:r>
            <a:r>
              <a:rPr lang="zh-TW" altLang="en-US" sz="3200" dirty="0">
                <a:solidFill>
                  <a:srgbClr val="3333CC"/>
                </a:solidFill>
              </a:rPr>
              <a:t>含子系統</a:t>
            </a:r>
            <a:r>
              <a:rPr lang="en-US" altLang="zh-TW" sz="3200" dirty="0">
                <a:solidFill>
                  <a:srgbClr val="3333CC"/>
                </a:solidFill>
              </a:rPr>
              <a:t>)</a:t>
            </a:r>
          </a:p>
          <a:p>
            <a:pPr marL="361950" indent="-279400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 sz="3200" dirty="0">
                <a:solidFill>
                  <a:srgbClr val="3333CC"/>
                </a:solidFill>
              </a:rPr>
              <a:t> 分流判斷原則</a:t>
            </a:r>
          </a:p>
          <a:p>
            <a:pPr marL="361950" indent="-279400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 sz="3200" dirty="0">
                <a:solidFill>
                  <a:srgbClr val="3333CC"/>
                </a:solidFill>
              </a:rPr>
              <a:t> 輸出 </a:t>
            </a:r>
            <a:r>
              <a:rPr lang="en-US" altLang="zh-TW" sz="3200" dirty="0">
                <a:solidFill>
                  <a:srgbClr val="3333CC"/>
                </a:solidFill>
              </a:rPr>
              <a:t>(</a:t>
            </a:r>
            <a:r>
              <a:rPr lang="zh-TW" altLang="en-US" sz="3200" dirty="0">
                <a:solidFill>
                  <a:srgbClr val="3333CC"/>
                </a:solidFill>
              </a:rPr>
              <a:t>使用者需求</a:t>
            </a:r>
            <a:r>
              <a:rPr lang="en-US" altLang="zh-TW" sz="3200" dirty="0">
                <a:solidFill>
                  <a:srgbClr val="3333CC"/>
                </a:solidFill>
              </a:rPr>
              <a:t>)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0" y="1"/>
            <a:ext cx="286932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Flowchart</a:t>
            </a:r>
            <a:endParaRPr lang="zh-TW" alt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>
            <a:hlinkClick r:id="rId2" action="ppaction://hlinksldjump"/>
          </p:cNvPr>
          <p:cNvSpPr/>
          <p:nvPr/>
        </p:nvSpPr>
        <p:spPr>
          <a:xfrm>
            <a:off x="0" y="1"/>
            <a:ext cx="2475186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Flowchart</a:t>
            </a:r>
            <a:endParaRPr lang="zh-TW" altLang="en-US" sz="4000" dirty="0"/>
          </a:p>
        </p:txBody>
      </p:sp>
      <p:sp>
        <p:nvSpPr>
          <p:cNvPr id="5" name="Isosceles Triangle 26"/>
          <p:cNvSpPr/>
          <p:nvPr/>
        </p:nvSpPr>
        <p:spPr>
          <a:xfrm flipH="1">
            <a:off x="6351" y="3056467"/>
            <a:ext cx="3257969" cy="3810000"/>
          </a:xfrm>
          <a:prstGeom prst="triangle">
            <a:avLst>
              <a:gd name="adj" fmla="val 100000"/>
            </a:avLst>
          </a:prstGeom>
          <a:solidFill>
            <a:srgbClr val="00006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20"/>
          <p:cNvCxnSpPr/>
          <p:nvPr/>
        </p:nvCxnSpPr>
        <p:spPr>
          <a:xfrm>
            <a:off x="9524" y="3689880"/>
            <a:ext cx="4761076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C:\git\Empflow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10465" y="0"/>
            <a:ext cx="884903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1117" y="0"/>
            <a:ext cx="742555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圓角矩形 3">
            <a:hlinkClick r:id="rId3" action="ppaction://hlinksldjump"/>
          </p:cNvPr>
          <p:cNvSpPr/>
          <p:nvPr/>
        </p:nvSpPr>
        <p:spPr>
          <a:xfrm>
            <a:off x="0" y="1"/>
            <a:ext cx="2475186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Flowchart</a:t>
            </a:r>
            <a:endParaRPr lang="zh-TW" altLang="en-US" sz="4000" dirty="0"/>
          </a:p>
        </p:txBody>
      </p:sp>
      <p:cxnSp>
        <p:nvCxnSpPr>
          <p:cNvPr id="5" name="Straight Connector 20"/>
          <p:cNvCxnSpPr/>
          <p:nvPr/>
        </p:nvCxnSpPr>
        <p:spPr>
          <a:xfrm>
            <a:off x="9524" y="3689880"/>
            <a:ext cx="4761076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3059512" y="488731"/>
            <a:ext cx="8040914" cy="3294993"/>
          </a:xfrm>
          <a:prstGeom prst="roundRect">
            <a:avLst/>
          </a:prstGeom>
          <a:noFill/>
          <a:ln w="381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8288" indent="-268288">
              <a:lnSpc>
                <a:spcPct val="150000"/>
              </a:lnSpc>
            </a:pPr>
            <a:endParaRPr lang="en-US" altLang="zh-TW" sz="2800" dirty="0">
              <a:solidFill>
                <a:srgbClr val="3333CC"/>
              </a:solidFill>
              <a:latin typeface="+mj-lt"/>
            </a:endParaRP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0" y="1"/>
            <a:ext cx="2475186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ER</a:t>
            </a:r>
            <a:r>
              <a:rPr lang="zh-TW" altLang="en-US" sz="4000" dirty="0"/>
              <a:t> </a:t>
            </a:r>
            <a:r>
              <a:rPr lang="en-US" altLang="zh-TW" sz="4000" dirty="0"/>
              <a:t>Model</a:t>
            </a:r>
            <a:endParaRPr lang="zh-TW" altLang="en-US" sz="4000" dirty="0"/>
          </a:p>
        </p:txBody>
      </p:sp>
      <p:sp>
        <p:nvSpPr>
          <p:cNvPr id="6" name="矩形 5"/>
          <p:cNvSpPr/>
          <p:nvPr/>
        </p:nvSpPr>
        <p:spPr>
          <a:xfrm>
            <a:off x="3106483" y="1646337"/>
            <a:ext cx="788106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indent="-361950">
              <a:lnSpc>
                <a:spcPct val="150000"/>
              </a:lnSpc>
              <a:tabLst>
                <a:tab pos="1435100" algn="l"/>
              </a:tabLst>
            </a:pPr>
            <a:r>
              <a:rPr lang="zh-TW" altLang="en-US" sz="3200" dirty="0">
                <a:solidFill>
                  <a:srgbClr val="3333CC"/>
                </a:solidFill>
              </a:rPr>
              <a:t>使用 </a:t>
            </a:r>
            <a:r>
              <a:rPr lang="en-US" altLang="zh-TW" sz="3200" dirty="0" err="1">
                <a:solidFill>
                  <a:srgbClr val="3333CC"/>
                </a:solidFill>
              </a:rPr>
              <a:t>MySQL</a:t>
            </a:r>
            <a:r>
              <a:rPr lang="en-US" altLang="zh-TW" sz="3200" dirty="0">
                <a:solidFill>
                  <a:srgbClr val="3333CC"/>
                </a:solidFill>
              </a:rPr>
              <a:t> </a:t>
            </a:r>
            <a:r>
              <a:rPr lang="zh-TW" altLang="en-US" sz="3200" dirty="0">
                <a:solidFill>
                  <a:srgbClr val="3333CC"/>
                </a:solidFill>
              </a:rPr>
              <a:t>資料庫，設定好關聯鍵值，</a:t>
            </a:r>
            <a:endParaRPr lang="en-US" altLang="zh-TW" sz="3200" dirty="0">
              <a:solidFill>
                <a:srgbClr val="3333CC"/>
              </a:solidFill>
            </a:endParaRPr>
          </a:p>
          <a:p>
            <a:pPr marL="361950" indent="-361950">
              <a:lnSpc>
                <a:spcPct val="150000"/>
              </a:lnSpc>
              <a:tabLst>
                <a:tab pos="1435100" algn="l"/>
              </a:tabLst>
            </a:pPr>
            <a:r>
              <a:rPr lang="zh-TW" altLang="en-US" sz="3200" dirty="0">
                <a:solidFill>
                  <a:srgbClr val="3333CC"/>
                </a:solidFill>
              </a:rPr>
              <a:t>系統產生實體關係模式</a:t>
            </a:r>
            <a:endParaRPr lang="en-US" altLang="zh-TW" sz="3200" dirty="0">
              <a:solidFill>
                <a:srgbClr val="3333CC"/>
              </a:solidFill>
            </a:endParaRPr>
          </a:p>
          <a:p>
            <a:pPr marL="361950" indent="-361950">
              <a:lnSpc>
                <a:spcPct val="150000"/>
              </a:lnSpc>
              <a:tabLst>
                <a:tab pos="1435100" algn="l"/>
              </a:tabLst>
            </a:pPr>
            <a:r>
              <a:rPr lang="zh-TW" altLang="en-US" sz="3200" dirty="0">
                <a:solidFill>
                  <a:srgbClr val="3333CC"/>
                </a:solidFill>
              </a:rPr>
              <a:t>  </a:t>
            </a:r>
            <a:r>
              <a:rPr lang="en-US" altLang="zh-TW" sz="3200" dirty="0">
                <a:solidFill>
                  <a:srgbClr val="3333CC"/>
                </a:solidFill>
              </a:rPr>
              <a:t>(Entity-Relation Model)</a:t>
            </a:r>
          </a:p>
          <a:p>
            <a:pPr marL="361950" indent="-361950">
              <a:lnSpc>
                <a:spcPct val="150000"/>
              </a:lnSpc>
              <a:tabLst>
                <a:tab pos="1435100" algn="l"/>
              </a:tabLst>
            </a:pPr>
            <a:r>
              <a:rPr lang="en-US" altLang="zh-TW" sz="3200" dirty="0" err="1">
                <a:solidFill>
                  <a:srgbClr val="3333CC"/>
                </a:solidFill>
              </a:rPr>
              <a:t>MySQL</a:t>
            </a:r>
            <a:r>
              <a:rPr lang="zh-TW" altLang="en-US" sz="3200" dirty="0">
                <a:solidFill>
                  <a:srgbClr val="3333CC"/>
                </a:solidFill>
              </a:rPr>
              <a:t> 即產生直覺且清晰的圖表</a:t>
            </a:r>
            <a:endParaRPr lang="en-US" altLang="zh-TW" sz="3200" dirty="0">
              <a:solidFill>
                <a:srgbClr val="3333CC"/>
              </a:solidFill>
            </a:endParaRPr>
          </a:p>
          <a:p>
            <a:pPr marL="268288" indent="-268288">
              <a:lnSpc>
                <a:spcPct val="150000"/>
              </a:lnSpc>
              <a:tabLst>
                <a:tab pos="1435100" algn="l"/>
              </a:tabLst>
            </a:pPr>
            <a:endParaRPr lang="en-US" altLang="zh-TW"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git\self-create\Factory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6262" y="0"/>
            <a:ext cx="8544910" cy="6637283"/>
          </a:xfrm>
          <a:prstGeom prst="rect">
            <a:avLst/>
          </a:prstGeom>
          <a:noFill/>
        </p:spPr>
      </p:pic>
      <p:sp>
        <p:nvSpPr>
          <p:cNvPr id="4" name="Isosceles Triangle 26"/>
          <p:cNvSpPr/>
          <p:nvPr/>
        </p:nvSpPr>
        <p:spPr>
          <a:xfrm flipH="1">
            <a:off x="6351" y="3056467"/>
            <a:ext cx="3257969" cy="3810000"/>
          </a:xfrm>
          <a:prstGeom prst="triangle">
            <a:avLst>
              <a:gd name="adj" fmla="val 100000"/>
            </a:avLst>
          </a:prstGeom>
          <a:solidFill>
            <a:srgbClr val="00006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圓角矩形 4">
            <a:hlinkClick r:id="rId4" action="ppaction://hlinksldjump"/>
          </p:cNvPr>
          <p:cNvSpPr/>
          <p:nvPr/>
        </p:nvSpPr>
        <p:spPr>
          <a:xfrm>
            <a:off x="0" y="0"/>
            <a:ext cx="2475186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ER</a:t>
            </a:r>
            <a:r>
              <a:rPr lang="zh-TW" altLang="en-US" sz="4000" dirty="0"/>
              <a:t> </a:t>
            </a:r>
            <a:r>
              <a:rPr lang="en-US" altLang="zh-TW" sz="4000" dirty="0"/>
              <a:t>Model</a:t>
            </a:r>
            <a:endParaRPr lang="zh-TW" alt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8731" y="-409903"/>
            <a:ext cx="3657600" cy="1103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-1" y="0"/>
            <a:ext cx="2837793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solidFill>
                  <a:schemeClr val="bg1"/>
                </a:solidFill>
                <a:cs typeface="+mn-ea"/>
                <a:sym typeface="+mn-lt"/>
              </a:rPr>
              <a:t>架  構  圖</a:t>
            </a:r>
            <a:endParaRPr lang="zh-TW" altLang="en-US" sz="4000" dirty="0"/>
          </a:p>
        </p:txBody>
      </p:sp>
      <p:cxnSp>
        <p:nvCxnSpPr>
          <p:cNvPr id="6" name="Straight Connector 20"/>
          <p:cNvCxnSpPr/>
          <p:nvPr/>
        </p:nvCxnSpPr>
        <p:spPr>
          <a:xfrm>
            <a:off x="9524" y="3689880"/>
            <a:ext cx="4761076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7510" y="800414"/>
            <a:ext cx="8377084" cy="5765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p Arrow 214"/>
          <p:cNvSpPr/>
          <p:nvPr/>
        </p:nvSpPr>
        <p:spPr>
          <a:xfrm>
            <a:off x="3620043" y="2123159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cs typeface="+mn-ea"/>
              <a:sym typeface="+mn-lt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2925" y="4624389"/>
            <a:ext cx="1178527" cy="1128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488731" y="-409903"/>
            <a:ext cx="3657600" cy="1103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Up Arrow 216"/>
          <p:cNvSpPr/>
          <p:nvPr/>
        </p:nvSpPr>
        <p:spPr>
          <a:xfrm>
            <a:off x="6094413" y="2135034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Up Arrow 217"/>
          <p:cNvSpPr/>
          <p:nvPr/>
        </p:nvSpPr>
        <p:spPr>
          <a:xfrm>
            <a:off x="8650819" y="2135034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9" name="Up Arrow 1"/>
          <p:cNvSpPr/>
          <p:nvPr/>
        </p:nvSpPr>
        <p:spPr>
          <a:xfrm>
            <a:off x="1001785" y="2104108"/>
            <a:ext cx="2556407" cy="3749160"/>
          </a:xfrm>
          <a:prstGeom prst="upArrow">
            <a:avLst>
              <a:gd name="adj1" fmla="val 69872"/>
              <a:gd name="adj2" fmla="val 45564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10" name="Freeform 22"/>
          <p:cNvSpPr>
            <a:spLocks noChangeArrowheads="1"/>
          </p:cNvSpPr>
          <p:nvPr/>
        </p:nvSpPr>
        <p:spPr bwMode="auto">
          <a:xfrm>
            <a:off x="1919524" y="2960741"/>
            <a:ext cx="631809" cy="631807"/>
          </a:xfrm>
          <a:custGeom>
            <a:avLst/>
            <a:gdLst>
              <a:gd name="T0" fmla="*/ 230 w 461"/>
              <a:gd name="T1" fmla="*/ 8 h 461"/>
              <a:gd name="T2" fmla="*/ 230 w 461"/>
              <a:gd name="T3" fmla="*/ 8 h 461"/>
              <a:gd name="T4" fmla="*/ 0 w 461"/>
              <a:gd name="T5" fmla="*/ 239 h 461"/>
              <a:gd name="T6" fmla="*/ 230 w 461"/>
              <a:gd name="T7" fmla="*/ 460 h 461"/>
              <a:gd name="T8" fmla="*/ 460 w 461"/>
              <a:gd name="T9" fmla="*/ 230 h 461"/>
              <a:gd name="T10" fmla="*/ 230 w 461"/>
              <a:gd name="T11" fmla="*/ 8 h 461"/>
              <a:gd name="T12" fmla="*/ 230 w 461"/>
              <a:gd name="T13" fmla="*/ 35 h 461"/>
              <a:gd name="T14" fmla="*/ 230 w 461"/>
              <a:gd name="T15" fmla="*/ 35 h 461"/>
              <a:gd name="T16" fmla="*/ 319 w 461"/>
              <a:gd name="T17" fmla="*/ 53 h 461"/>
              <a:gd name="T18" fmla="*/ 291 w 461"/>
              <a:gd name="T19" fmla="*/ 106 h 461"/>
              <a:gd name="T20" fmla="*/ 230 w 461"/>
              <a:gd name="T21" fmla="*/ 97 h 461"/>
              <a:gd name="T22" fmla="*/ 168 w 461"/>
              <a:gd name="T23" fmla="*/ 106 h 461"/>
              <a:gd name="T24" fmla="*/ 141 w 461"/>
              <a:gd name="T25" fmla="*/ 53 h 461"/>
              <a:gd name="T26" fmla="*/ 230 w 461"/>
              <a:gd name="T27" fmla="*/ 35 h 461"/>
              <a:gd name="T28" fmla="*/ 106 w 461"/>
              <a:gd name="T29" fmla="*/ 292 h 461"/>
              <a:gd name="T30" fmla="*/ 106 w 461"/>
              <a:gd name="T31" fmla="*/ 292 h 461"/>
              <a:gd name="T32" fmla="*/ 53 w 461"/>
              <a:gd name="T33" fmla="*/ 327 h 461"/>
              <a:gd name="T34" fmla="*/ 35 w 461"/>
              <a:gd name="T35" fmla="*/ 239 h 461"/>
              <a:gd name="T36" fmla="*/ 53 w 461"/>
              <a:gd name="T37" fmla="*/ 141 h 461"/>
              <a:gd name="T38" fmla="*/ 106 w 461"/>
              <a:gd name="T39" fmla="*/ 167 h 461"/>
              <a:gd name="T40" fmla="*/ 88 w 461"/>
              <a:gd name="T41" fmla="*/ 230 h 461"/>
              <a:gd name="T42" fmla="*/ 106 w 461"/>
              <a:gd name="T43" fmla="*/ 292 h 461"/>
              <a:gd name="T44" fmla="*/ 230 w 461"/>
              <a:gd name="T45" fmla="*/ 433 h 461"/>
              <a:gd name="T46" fmla="*/ 230 w 461"/>
              <a:gd name="T47" fmla="*/ 433 h 461"/>
              <a:gd name="T48" fmla="*/ 141 w 461"/>
              <a:gd name="T49" fmla="*/ 407 h 461"/>
              <a:gd name="T50" fmla="*/ 168 w 461"/>
              <a:gd name="T51" fmla="*/ 354 h 461"/>
              <a:gd name="T52" fmla="*/ 230 w 461"/>
              <a:gd name="T53" fmla="*/ 372 h 461"/>
              <a:gd name="T54" fmla="*/ 291 w 461"/>
              <a:gd name="T55" fmla="*/ 354 h 461"/>
              <a:gd name="T56" fmla="*/ 319 w 461"/>
              <a:gd name="T57" fmla="*/ 407 h 461"/>
              <a:gd name="T58" fmla="*/ 230 w 461"/>
              <a:gd name="T59" fmla="*/ 433 h 461"/>
              <a:gd name="T60" fmla="*/ 230 w 461"/>
              <a:gd name="T61" fmla="*/ 345 h 461"/>
              <a:gd name="T62" fmla="*/ 230 w 461"/>
              <a:gd name="T63" fmla="*/ 345 h 461"/>
              <a:gd name="T64" fmla="*/ 124 w 461"/>
              <a:gd name="T65" fmla="*/ 230 h 461"/>
              <a:gd name="T66" fmla="*/ 230 w 461"/>
              <a:gd name="T67" fmla="*/ 123 h 461"/>
              <a:gd name="T68" fmla="*/ 336 w 461"/>
              <a:gd name="T69" fmla="*/ 230 h 461"/>
              <a:gd name="T70" fmla="*/ 230 w 461"/>
              <a:gd name="T71" fmla="*/ 345 h 461"/>
              <a:gd name="T72" fmla="*/ 354 w 461"/>
              <a:gd name="T73" fmla="*/ 292 h 461"/>
              <a:gd name="T74" fmla="*/ 354 w 461"/>
              <a:gd name="T75" fmla="*/ 292 h 461"/>
              <a:gd name="T76" fmla="*/ 372 w 461"/>
              <a:gd name="T77" fmla="*/ 230 h 461"/>
              <a:gd name="T78" fmla="*/ 354 w 461"/>
              <a:gd name="T79" fmla="*/ 167 h 461"/>
              <a:gd name="T80" fmla="*/ 407 w 461"/>
              <a:gd name="T81" fmla="*/ 141 h 461"/>
              <a:gd name="T82" fmla="*/ 425 w 461"/>
              <a:gd name="T83" fmla="*/ 230 h 461"/>
              <a:gd name="T84" fmla="*/ 407 w 461"/>
              <a:gd name="T85" fmla="*/ 327 h 461"/>
              <a:gd name="T86" fmla="*/ 354 w 461"/>
              <a:gd name="T87" fmla="*/ 292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61" h="461">
                <a:moveTo>
                  <a:pt x="230" y="8"/>
                </a:moveTo>
                <a:lnTo>
                  <a:pt x="230" y="8"/>
                </a:lnTo>
                <a:cubicBezTo>
                  <a:pt x="97" y="8"/>
                  <a:pt x="0" y="106"/>
                  <a:pt x="0" y="239"/>
                </a:cubicBezTo>
                <a:cubicBezTo>
                  <a:pt x="0" y="363"/>
                  <a:pt x="106" y="460"/>
                  <a:pt x="230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0" y="8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56" y="35"/>
                  <a:pt x="291" y="44"/>
                  <a:pt x="319" y="53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75" y="97"/>
                  <a:pt x="247" y="97"/>
                  <a:pt x="230" y="97"/>
                </a:cubicBezTo>
                <a:cubicBezTo>
                  <a:pt x="203" y="97"/>
                  <a:pt x="185" y="97"/>
                  <a:pt x="168" y="106"/>
                </a:cubicBezTo>
                <a:cubicBezTo>
                  <a:pt x="141" y="53"/>
                  <a:pt x="141" y="53"/>
                  <a:pt x="141" y="53"/>
                </a:cubicBezTo>
                <a:cubicBezTo>
                  <a:pt x="168" y="44"/>
                  <a:pt x="194" y="35"/>
                  <a:pt x="230" y="35"/>
                </a:cubicBezTo>
                <a:close/>
                <a:moveTo>
                  <a:pt x="106" y="292"/>
                </a:moveTo>
                <a:lnTo>
                  <a:pt x="106" y="292"/>
                </a:lnTo>
                <a:cubicBezTo>
                  <a:pt x="53" y="327"/>
                  <a:pt x="53" y="327"/>
                  <a:pt x="53" y="327"/>
                </a:cubicBezTo>
                <a:cubicBezTo>
                  <a:pt x="35" y="301"/>
                  <a:pt x="35" y="265"/>
                  <a:pt x="35" y="239"/>
                </a:cubicBezTo>
                <a:cubicBezTo>
                  <a:pt x="26" y="204"/>
                  <a:pt x="35" y="167"/>
                  <a:pt x="53" y="141"/>
                </a:cubicBezTo>
                <a:cubicBezTo>
                  <a:pt x="106" y="167"/>
                  <a:pt x="106" y="167"/>
                  <a:pt x="106" y="167"/>
                </a:cubicBezTo>
                <a:cubicBezTo>
                  <a:pt x="97" y="185"/>
                  <a:pt x="88" y="212"/>
                  <a:pt x="88" y="230"/>
                </a:cubicBezTo>
                <a:cubicBezTo>
                  <a:pt x="88" y="257"/>
                  <a:pt x="97" y="274"/>
                  <a:pt x="106" y="292"/>
                </a:cubicBezTo>
                <a:close/>
                <a:moveTo>
                  <a:pt x="230" y="433"/>
                </a:moveTo>
                <a:lnTo>
                  <a:pt x="230" y="433"/>
                </a:lnTo>
                <a:cubicBezTo>
                  <a:pt x="194" y="433"/>
                  <a:pt x="168" y="425"/>
                  <a:pt x="141" y="407"/>
                </a:cubicBezTo>
                <a:cubicBezTo>
                  <a:pt x="168" y="354"/>
                  <a:pt x="168" y="354"/>
                  <a:pt x="168" y="354"/>
                </a:cubicBezTo>
                <a:cubicBezTo>
                  <a:pt x="185" y="363"/>
                  <a:pt x="203" y="372"/>
                  <a:pt x="230" y="372"/>
                </a:cubicBezTo>
                <a:cubicBezTo>
                  <a:pt x="247" y="372"/>
                  <a:pt x="275" y="363"/>
                  <a:pt x="291" y="354"/>
                </a:cubicBezTo>
                <a:cubicBezTo>
                  <a:pt x="319" y="407"/>
                  <a:pt x="319" y="407"/>
                  <a:pt x="319" y="407"/>
                </a:cubicBezTo>
                <a:cubicBezTo>
                  <a:pt x="291" y="425"/>
                  <a:pt x="266" y="433"/>
                  <a:pt x="230" y="433"/>
                </a:cubicBezTo>
                <a:close/>
                <a:moveTo>
                  <a:pt x="230" y="345"/>
                </a:moveTo>
                <a:lnTo>
                  <a:pt x="230" y="345"/>
                </a:lnTo>
                <a:cubicBezTo>
                  <a:pt x="168" y="345"/>
                  <a:pt x="124" y="292"/>
                  <a:pt x="124" y="230"/>
                </a:cubicBezTo>
                <a:cubicBezTo>
                  <a:pt x="124" y="167"/>
                  <a:pt x="168" y="123"/>
                  <a:pt x="230" y="123"/>
                </a:cubicBezTo>
                <a:cubicBezTo>
                  <a:pt x="291" y="123"/>
                  <a:pt x="336" y="167"/>
                  <a:pt x="336" y="230"/>
                </a:cubicBezTo>
                <a:cubicBezTo>
                  <a:pt x="336" y="292"/>
                  <a:pt x="291" y="345"/>
                  <a:pt x="230" y="345"/>
                </a:cubicBezTo>
                <a:close/>
                <a:moveTo>
                  <a:pt x="354" y="292"/>
                </a:moveTo>
                <a:lnTo>
                  <a:pt x="354" y="292"/>
                </a:lnTo>
                <a:cubicBezTo>
                  <a:pt x="363" y="274"/>
                  <a:pt x="372" y="257"/>
                  <a:pt x="372" y="230"/>
                </a:cubicBezTo>
                <a:cubicBezTo>
                  <a:pt x="372" y="212"/>
                  <a:pt x="363" y="185"/>
                  <a:pt x="354" y="167"/>
                </a:cubicBezTo>
                <a:cubicBezTo>
                  <a:pt x="407" y="141"/>
                  <a:pt x="407" y="141"/>
                  <a:pt x="407" y="141"/>
                </a:cubicBezTo>
                <a:cubicBezTo>
                  <a:pt x="416" y="167"/>
                  <a:pt x="425" y="195"/>
                  <a:pt x="425" y="230"/>
                </a:cubicBezTo>
                <a:cubicBezTo>
                  <a:pt x="425" y="265"/>
                  <a:pt x="416" y="292"/>
                  <a:pt x="407" y="327"/>
                </a:cubicBezTo>
                <a:lnTo>
                  <a:pt x="354" y="2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7145" tIns="8573" rIns="17145" bIns="8573" anchor="ctr"/>
          <a:lstStyle/>
          <a:p>
            <a:pPr>
              <a:defRPr/>
            </a:pPr>
            <a:endParaRPr lang="en-US" sz="900" dirty="0">
              <a:cs typeface="+mn-ea"/>
              <a:sym typeface="+mn-lt"/>
            </a:endParaRPr>
          </a:p>
        </p:txBody>
      </p:sp>
      <p:sp>
        <p:nvSpPr>
          <p:cNvPr id="11" name="Freeform 29"/>
          <p:cNvSpPr>
            <a:spLocks noChangeArrowheads="1"/>
          </p:cNvSpPr>
          <p:nvPr/>
        </p:nvSpPr>
        <p:spPr bwMode="auto">
          <a:xfrm>
            <a:off x="4516911" y="2966114"/>
            <a:ext cx="636071" cy="656264"/>
          </a:xfrm>
          <a:custGeom>
            <a:avLst/>
            <a:gdLst>
              <a:gd name="T0" fmla="*/ 248 w 444"/>
              <a:gd name="T1" fmla="*/ 337 h 462"/>
              <a:gd name="T2" fmla="*/ 248 w 444"/>
              <a:gd name="T3" fmla="*/ 337 h 462"/>
              <a:gd name="T4" fmla="*/ 320 w 444"/>
              <a:gd name="T5" fmla="*/ 257 h 462"/>
              <a:gd name="T6" fmla="*/ 443 w 444"/>
              <a:gd name="T7" fmla="*/ 71 h 462"/>
              <a:gd name="T8" fmla="*/ 426 w 444"/>
              <a:gd name="T9" fmla="*/ 53 h 462"/>
              <a:gd name="T10" fmla="*/ 346 w 444"/>
              <a:gd name="T11" fmla="*/ 53 h 462"/>
              <a:gd name="T12" fmla="*/ 222 w 444"/>
              <a:gd name="T13" fmla="*/ 0 h 462"/>
              <a:gd name="T14" fmla="*/ 98 w 444"/>
              <a:gd name="T15" fmla="*/ 53 h 462"/>
              <a:gd name="T16" fmla="*/ 18 w 444"/>
              <a:gd name="T17" fmla="*/ 53 h 462"/>
              <a:gd name="T18" fmla="*/ 0 w 444"/>
              <a:gd name="T19" fmla="*/ 71 h 462"/>
              <a:gd name="T20" fmla="*/ 124 w 444"/>
              <a:gd name="T21" fmla="*/ 257 h 462"/>
              <a:gd name="T22" fmla="*/ 195 w 444"/>
              <a:gd name="T23" fmla="*/ 337 h 462"/>
              <a:gd name="T24" fmla="*/ 195 w 444"/>
              <a:gd name="T25" fmla="*/ 372 h 462"/>
              <a:gd name="T26" fmla="*/ 107 w 444"/>
              <a:gd name="T27" fmla="*/ 416 h 462"/>
              <a:gd name="T28" fmla="*/ 222 w 444"/>
              <a:gd name="T29" fmla="*/ 461 h 462"/>
              <a:gd name="T30" fmla="*/ 328 w 444"/>
              <a:gd name="T31" fmla="*/ 416 h 462"/>
              <a:gd name="T32" fmla="*/ 248 w 444"/>
              <a:gd name="T33" fmla="*/ 372 h 462"/>
              <a:gd name="T34" fmla="*/ 248 w 444"/>
              <a:gd name="T35" fmla="*/ 337 h 462"/>
              <a:gd name="T36" fmla="*/ 320 w 444"/>
              <a:gd name="T37" fmla="*/ 212 h 462"/>
              <a:gd name="T38" fmla="*/ 320 w 444"/>
              <a:gd name="T39" fmla="*/ 212 h 462"/>
              <a:gd name="T40" fmla="*/ 346 w 444"/>
              <a:gd name="T41" fmla="*/ 89 h 462"/>
              <a:gd name="T42" fmla="*/ 408 w 444"/>
              <a:gd name="T43" fmla="*/ 89 h 462"/>
              <a:gd name="T44" fmla="*/ 320 w 444"/>
              <a:gd name="T45" fmla="*/ 212 h 462"/>
              <a:gd name="T46" fmla="*/ 222 w 444"/>
              <a:gd name="T47" fmla="*/ 36 h 462"/>
              <a:gd name="T48" fmla="*/ 222 w 444"/>
              <a:gd name="T49" fmla="*/ 36 h 462"/>
              <a:gd name="T50" fmla="*/ 320 w 444"/>
              <a:gd name="T51" fmla="*/ 71 h 462"/>
              <a:gd name="T52" fmla="*/ 222 w 444"/>
              <a:gd name="T53" fmla="*/ 115 h 462"/>
              <a:gd name="T54" fmla="*/ 124 w 444"/>
              <a:gd name="T55" fmla="*/ 71 h 462"/>
              <a:gd name="T56" fmla="*/ 222 w 444"/>
              <a:gd name="T57" fmla="*/ 36 h 462"/>
              <a:gd name="T58" fmla="*/ 36 w 444"/>
              <a:gd name="T59" fmla="*/ 89 h 462"/>
              <a:gd name="T60" fmla="*/ 36 w 444"/>
              <a:gd name="T61" fmla="*/ 89 h 462"/>
              <a:gd name="T62" fmla="*/ 98 w 444"/>
              <a:gd name="T63" fmla="*/ 89 h 462"/>
              <a:gd name="T64" fmla="*/ 124 w 444"/>
              <a:gd name="T65" fmla="*/ 212 h 462"/>
              <a:gd name="T66" fmla="*/ 36 w 444"/>
              <a:gd name="T67" fmla="*/ 89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7145" tIns="8573" rIns="17145" bIns="8573" anchor="ctr"/>
          <a:lstStyle/>
          <a:p>
            <a:pPr>
              <a:defRPr/>
            </a:pPr>
            <a:endParaRPr lang="en-US" sz="900" dirty="0">
              <a:cs typeface="+mn-ea"/>
              <a:sym typeface="+mn-lt"/>
            </a:endParaRPr>
          </a:p>
        </p:txBody>
      </p:sp>
      <p:sp>
        <p:nvSpPr>
          <p:cNvPr id="12" name="Freeform 67"/>
          <p:cNvSpPr>
            <a:spLocks noChangeArrowheads="1"/>
          </p:cNvSpPr>
          <p:nvPr/>
        </p:nvSpPr>
        <p:spPr bwMode="auto">
          <a:xfrm>
            <a:off x="7130099" y="2929487"/>
            <a:ext cx="584321" cy="679444"/>
          </a:xfrm>
          <a:custGeom>
            <a:avLst/>
            <a:gdLst>
              <a:gd name="T0" fmla="*/ 434 w 453"/>
              <a:gd name="T1" fmla="*/ 186 h 533"/>
              <a:gd name="T2" fmla="*/ 434 w 453"/>
              <a:gd name="T3" fmla="*/ 186 h 533"/>
              <a:gd name="T4" fmla="*/ 44 w 453"/>
              <a:gd name="T5" fmla="*/ 160 h 533"/>
              <a:gd name="T6" fmla="*/ 0 w 453"/>
              <a:gd name="T7" fmla="*/ 178 h 533"/>
              <a:gd name="T8" fmla="*/ 88 w 453"/>
              <a:gd name="T9" fmla="*/ 532 h 533"/>
              <a:gd name="T10" fmla="*/ 141 w 453"/>
              <a:gd name="T11" fmla="*/ 532 h 533"/>
              <a:gd name="T12" fmla="*/ 97 w 453"/>
              <a:gd name="T13" fmla="*/ 355 h 533"/>
              <a:gd name="T14" fmla="*/ 443 w 453"/>
              <a:gd name="T15" fmla="*/ 195 h 533"/>
              <a:gd name="T16" fmla="*/ 434 w 453"/>
              <a:gd name="T17" fmla="*/ 186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3" h="53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7145" tIns="8573" rIns="17145" bIns="8573" anchor="ctr"/>
          <a:lstStyle/>
          <a:p>
            <a:pPr>
              <a:defRPr/>
            </a:pPr>
            <a:endParaRPr lang="en-US" sz="900" dirty="0">
              <a:cs typeface="+mn-ea"/>
              <a:sym typeface="+mn-lt"/>
            </a:endParaRPr>
          </a:p>
        </p:txBody>
      </p:sp>
      <p:sp>
        <p:nvSpPr>
          <p:cNvPr id="13" name="Freeform 120"/>
          <p:cNvSpPr>
            <a:spLocks noEditPoints="1"/>
          </p:cNvSpPr>
          <p:nvPr/>
        </p:nvSpPr>
        <p:spPr bwMode="auto">
          <a:xfrm>
            <a:off x="9658698" y="3070851"/>
            <a:ext cx="547647" cy="469413"/>
          </a:xfrm>
          <a:custGeom>
            <a:avLst/>
            <a:gdLst>
              <a:gd name="T0" fmla="*/ 37750 w 68"/>
              <a:gd name="T1" fmla="*/ 200025 h 58"/>
              <a:gd name="T2" fmla="*/ 30886 w 68"/>
              <a:gd name="T3" fmla="*/ 200025 h 58"/>
              <a:gd name="T4" fmla="*/ 0 w 68"/>
              <a:gd name="T5" fmla="*/ 168987 h 58"/>
              <a:gd name="T6" fmla="*/ 0 w 68"/>
              <a:gd name="T7" fmla="*/ 62077 h 58"/>
              <a:gd name="T8" fmla="*/ 30886 w 68"/>
              <a:gd name="T9" fmla="*/ 31038 h 58"/>
              <a:gd name="T10" fmla="*/ 37750 w 68"/>
              <a:gd name="T11" fmla="*/ 31038 h 58"/>
              <a:gd name="T12" fmla="*/ 37750 w 68"/>
              <a:gd name="T13" fmla="*/ 200025 h 58"/>
              <a:gd name="T14" fmla="*/ 185317 w 68"/>
              <a:gd name="T15" fmla="*/ 200025 h 58"/>
              <a:gd name="T16" fmla="*/ 51477 w 68"/>
              <a:gd name="T17" fmla="*/ 200025 h 58"/>
              <a:gd name="T18" fmla="*/ 51477 w 68"/>
              <a:gd name="T19" fmla="*/ 31038 h 58"/>
              <a:gd name="T20" fmla="*/ 68636 w 68"/>
              <a:gd name="T21" fmla="*/ 31038 h 58"/>
              <a:gd name="T22" fmla="*/ 68636 w 68"/>
              <a:gd name="T23" fmla="*/ 10346 h 58"/>
              <a:gd name="T24" fmla="*/ 82363 w 68"/>
              <a:gd name="T25" fmla="*/ 0 h 58"/>
              <a:gd name="T26" fmla="*/ 154431 w 68"/>
              <a:gd name="T27" fmla="*/ 0 h 58"/>
              <a:gd name="T28" fmla="*/ 168158 w 68"/>
              <a:gd name="T29" fmla="*/ 10346 h 58"/>
              <a:gd name="T30" fmla="*/ 168158 w 68"/>
              <a:gd name="T31" fmla="*/ 31038 h 58"/>
              <a:gd name="T32" fmla="*/ 185317 w 68"/>
              <a:gd name="T33" fmla="*/ 31038 h 58"/>
              <a:gd name="T34" fmla="*/ 185317 w 68"/>
              <a:gd name="T35" fmla="*/ 200025 h 58"/>
              <a:gd name="T36" fmla="*/ 150999 w 68"/>
              <a:gd name="T37" fmla="*/ 31038 h 58"/>
              <a:gd name="T38" fmla="*/ 150999 w 68"/>
              <a:gd name="T39" fmla="*/ 13795 h 58"/>
              <a:gd name="T40" fmla="*/ 85795 w 68"/>
              <a:gd name="T41" fmla="*/ 13795 h 58"/>
              <a:gd name="T42" fmla="*/ 85795 w 68"/>
              <a:gd name="T43" fmla="*/ 31038 h 58"/>
              <a:gd name="T44" fmla="*/ 150999 w 68"/>
              <a:gd name="T45" fmla="*/ 31038 h 58"/>
              <a:gd name="T46" fmla="*/ 233362 w 68"/>
              <a:gd name="T47" fmla="*/ 168987 h 58"/>
              <a:gd name="T48" fmla="*/ 205908 w 68"/>
              <a:gd name="T49" fmla="*/ 200025 h 58"/>
              <a:gd name="T50" fmla="*/ 199044 w 68"/>
              <a:gd name="T51" fmla="*/ 200025 h 58"/>
              <a:gd name="T52" fmla="*/ 199044 w 68"/>
              <a:gd name="T53" fmla="*/ 31038 h 58"/>
              <a:gd name="T54" fmla="*/ 205908 w 68"/>
              <a:gd name="T55" fmla="*/ 31038 h 58"/>
              <a:gd name="T56" fmla="*/ 233362 w 68"/>
              <a:gd name="T57" fmla="*/ 62077 h 58"/>
              <a:gd name="T58" fmla="*/ 233362 w 68"/>
              <a:gd name="T59" fmla="*/ 168987 h 58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68" h="58">
                <a:moveTo>
                  <a:pt x="11" y="58"/>
                </a:moveTo>
                <a:cubicBezTo>
                  <a:pt x="9" y="58"/>
                  <a:pt x="9" y="58"/>
                  <a:pt x="9" y="58"/>
                </a:cubicBezTo>
                <a:cubicBezTo>
                  <a:pt x="4" y="58"/>
                  <a:pt x="0" y="54"/>
                  <a:pt x="0" y="49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1" y="9"/>
                  <a:pt x="11" y="9"/>
                  <a:pt x="11" y="9"/>
                </a:cubicBezTo>
                <a:lnTo>
                  <a:pt x="11" y="58"/>
                </a:lnTo>
                <a:close/>
                <a:moveTo>
                  <a:pt x="54" y="58"/>
                </a:moveTo>
                <a:cubicBezTo>
                  <a:pt x="15" y="58"/>
                  <a:pt x="15" y="58"/>
                  <a:pt x="15" y="58"/>
                </a:cubicBezTo>
                <a:cubicBezTo>
                  <a:pt x="15" y="9"/>
                  <a:pt x="15" y="9"/>
                  <a:pt x="15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54" y="9"/>
                  <a:pt x="54" y="9"/>
                  <a:pt x="54" y="9"/>
                </a:cubicBezTo>
                <a:lnTo>
                  <a:pt x="54" y="58"/>
                </a:lnTo>
                <a:close/>
                <a:moveTo>
                  <a:pt x="44" y="9"/>
                </a:moveTo>
                <a:cubicBezTo>
                  <a:pt x="44" y="4"/>
                  <a:pt x="44" y="4"/>
                  <a:pt x="4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68" y="49"/>
                </a:moveTo>
                <a:cubicBezTo>
                  <a:pt x="68" y="54"/>
                  <a:pt x="65" y="58"/>
                  <a:pt x="60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9"/>
                  <a:pt x="58" y="9"/>
                  <a:pt x="58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5" y="9"/>
                  <a:pt x="68" y="13"/>
                  <a:pt x="68" y="18"/>
                </a:cubicBezTo>
                <a:lnTo>
                  <a:pt x="68" y="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sz="900">
              <a:cs typeface="+mn-ea"/>
              <a:sym typeface="+mn-lt"/>
            </a:endParaRPr>
          </a:p>
        </p:txBody>
      </p:sp>
      <p:sp>
        <p:nvSpPr>
          <p:cNvPr id="14" name="TextBox 218"/>
          <p:cNvSpPr txBox="1"/>
          <p:nvPr/>
        </p:nvSpPr>
        <p:spPr>
          <a:xfrm>
            <a:off x="1383500" y="3838975"/>
            <a:ext cx="1734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Program</a:t>
            </a:r>
          </a:p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Tech</a:t>
            </a:r>
          </a:p>
        </p:txBody>
      </p:sp>
      <p:sp>
        <p:nvSpPr>
          <p:cNvPr id="15" name="TextBox 219"/>
          <p:cNvSpPr txBox="1"/>
          <p:nvPr/>
        </p:nvSpPr>
        <p:spPr>
          <a:xfrm>
            <a:off x="1383500" y="4559057"/>
            <a:ext cx="1734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TW" sz="32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TW" sz="3200" dirty="0">
                <a:solidFill>
                  <a:schemeClr val="bg1"/>
                </a:solidFill>
                <a:cs typeface="+mn-ea"/>
                <a:sym typeface="+mn-lt"/>
              </a:rPr>
              <a:t>JAVA</a:t>
            </a:r>
            <a:endParaRPr lang="en-US" sz="3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TextBox 220"/>
          <p:cNvSpPr txBox="1"/>
          <p:nvPr/>
        </p:nvSpPr>
        <p:spPr>
          <a:xfrm>
            <a:off x="3951797" y="3838975"/>
            <a:ext cx="18203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Development </a:t>
            </a:r>
            <a:r>
              <a:rPr lang="en-US" sz="2200" b="1" dirty="0" err="1">
                <a:solidFill>
                  <a:srgbClr val="FFFFFF"/>
                </a:solidFill>
                <a:cs typeface="+mn-ea"/>
                <a:sym typeface="+mn-lt"/>
              </a:rPr>
              <a:t>Framwork</a:t>
            </a:r>
            <a:endParaRPr lang="en-US" sz="2200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8" name="TextBox 222"/>
          <p:cNvSpPr txBox="1"/>
          <p:nvPr/>
        </p:nvSpPr>
        <p:spPr>
          <a:xfrm>
            <a:off x="6505982" y="3838975"/>
            <a:ext cx="1734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Program</a:t>
            </a:r>
          </a:p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Server</a:t>
            </a:r>
          </a:p>
        </p:txBody>
      </p:sp>
      <p:sp>
        <p:nvSpPr>
          <p:cNvPr id="20" name="TextBox 224"/>
          <p:cNvSpPr txBox="1"/>
          <p:nvPr/>
        </p:nvSpPr>
        <p:spPr>
          <a:xfrm>
            <a:off x="9074278" y="3838975"/>
            <a:ext cx="1734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Version</a:t>
            </a:r>
          </a:p>
          <a:p>
            <a:pPr algn="ctr"/>
            <a:r>
              <a:rPr lang="en-US" sz="2200" b="1" dirty="0">
                <a:solidFill>
                  <a:srgbClr val="FFFFFF"/>
                </a:solidFill>
                <a:cs typeface="+mn-ea"/>
                <a:sym typeface="+mn-lt"/>
              </a:rPr>
              <a:t>Control</a:t>
            </a:r>
          </a:p>
        </p:txBody>
      </p:sp>
      <p:sp>
        <p:nvSpPr>
          <p:cNvPr id="21" name="TextBox 225"/>
          <p:cNvSpPr txBox="1"/>
          <p:nvPr/>
        </p:nvSpPr>
        <p:spPr>
          <a:xfrm>
            <a:off x="9145777" y="5469005"/>
            <a:ext cx="1734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300" dirty="0" err="1">
                <a:solidFill>
                  <a:srgbClr val="FFFFFF"/>
                </a:solidFill>
                <a:cs typeface="+mn-ea"/>
                <a:sym typeface="+mn-lt"/>
              </a:rPr>
              <a:t>GitHub</a:t>
            </a:r>
            <a:r>
              <a:rPr lang="en-US" altLang="zh-TW" sz="1300" dirty="0">
                <a:solidFill>
                  <a:srgbClr val="FFFFFF"/>
                </a:solidFill>
                <a:cs typeface="+mn-ea"/>
                <a:sym typeface="+mn-lt"/>
              </a:rPr>
              <a:t>   </a:t>
            </a:r>
            <a:r>
              <a:rPr lang="en-US" altLang="zh-TW" sz="1300" dirty="0" err="1">
                <a:solidFill>
                  <a:srgbClr val="FFFFFF"/>
                </a:solidFill>
                <a:cs typeface="+mn-ea"/>
                <a:sym typeface="+mn-lt"/>
              </a:rPr>
              <a:t>Sourcetree</a:t>
            </a:r>
            <a:endParaRPr lang="en-US" altLang="zh-TW" sz="1300" dirty="0">
              <a:solidFill>
                <a:srgbClr val="FFFFFF"/>
              </a:solidFill>
              <a:cs typeface="+mn-ea"/>
              <a:sym typeface="+mn-lt"/>
            </a:endParaRPr>
          </a:p>
          <a:p>
            <a:pPr algn="ctr"/>
            <a:endParaRPr lang="en-US" sz="13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73822" y="4650798"/>
            <a:ext cx="117077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46425" y="4674177"/>
            <a:ext cx="676893" cy="69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76400" y="4667251"/>
            <a:ext cx="121919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020301" y="4676776"/>
            <a:ext cx="666749" cy="695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圓角矩形 24">
            <a:hlinkClick r:id="rId7" action="ppaction://hlinksldjump"/>
          </p:cNvPr>
          <p:cNvSpPr/>
          <p:nvPr/>
        </p:nvSpPr>
        <p:spPr>
          <a:xfrm>
            <a:off x="-1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30000"/>
              </a:lnSpc>
              <a:defRPr/>
            </a:pPr>
            <a:r>
              <a:rPr lang="zh-TW" altLang="en-US" sz="4000" b="1" dirty="0">
                <a:solidFill>
                  <a:schemeClr val="bg1"/>
                </a:solidFill>
                <a:cs typeface="+mn-ea"/>
                <a:sym typeface="+mn-lt"/>
              </a:rPr>
              <a:t> 開 發 環 境</a:t>
            </a:r>
            <a:endParaRPr lang="zh-CN" alt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8731" y="-409903"/>
            <a:ext cx="3657600" cy="1103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Freeform 76"/>
          <p:cNvSpPr/>
          <p:nvPr/>
        </p:nvSpPr>
        <p:spPr bwMode="auto">
          <a:xfrm>
            <a:off x="6094413" y="2032650"/>
            <a:ext cx="2205363" cy="2203315"/>
          </a:xfrm>
          <a:custGeom>
            <a:avLst/>
            <a:gdLst/>
            <a:ahLst/>
            <a:cxnLst>
              <a:cxn ang="0">
                <a:pos x="183" y="603"/>
              </a:cxn>
              <a:cxn ang="0">
                <a:pos x="256" y="638"/>
              </a:cxn>
              <a:cxn ang="0">
                <a:pos x="218" y="731"/>
              </a:cxn>
              <a:cxn ang="0">
                <a:pos x="386" y="731"/>
              </a:cxn>
              <a:cxn ang="0">
                <a:pos x="347" y="638"/>
              </a:cxn>
              <a:cxn ang="0">
                <a:pos x="420" y="603"/>
              </a:cxn>
              <a:cxn ang="0">
                <a:pos x="603" y="603"/>
              </a:cxn>
              <a:cxn ang="0">
                <a:pos x="603" y="420"/>
              </a:cxn>
              <a:cxn ang="0">
                <a:pos x="639" y="347"/>
              </a:cxn>
              <a:cxn ang="0">
                <a:pos x="731" y="385"/>
              </a:cxn>
              <a:cxn ang="0">
                <a:pos x="731" y="217"/>
              </a:cxn>
              <a:cxn ang="0">
                <a:pos x="639" y="256"/>
              </a:cxn>
              <a:cxn ang="0">
                <a:pos x="603" y="183"/>
              </a:cxn>
              <a:cxn ang="0">
                <a:pos x="603" y="0"/>
              </a:cxn>
              <a:cxn ang="0">
                <a:pos x="420" y="0"/>
              </a:cxn>
              <a:cxn ang="0">
                <a:pos x="347" y="35"/>
              </a:cxn>
              <a:cxn ang="0">
                <a:pos x="386" y="128"/>
              </a:cxn>
              <a:cxn ang="0">
                <a:pos x="218" y="128"/>
              </a:cxn>
              <a:cxn ang="0">
                <a:pos x="256" y="35"/>
              </a:cxn>
              <a:cxn ang="0">
                <a:pos x="183" y="0"/>
              </a:cxn>
              <a:cxn ang="0">
                <a:pos x="0" y="0"/>
              </a:cxn>
              <a:cxn ang="0">
                <a:pos x="0" y="183"/>
              </a:cxn>
              <a:cxn ang="0">
                <a:pos x="35" y="256"/>
              </a:cxn>
              <a:cxn ang="0">
                <a:pos x="128" y="217"/>
              </a:cxn>
              <a:cxn ang="0">
                <a:pos x="128" y="385"/>
              </a:cxn>
              <a:cxn ang="0">
                <a:pos x="35" y="347"/>
              </a:cxn>
              <a:cxn ang="0">
                <a:pos x="0" y="420"/>
              </a:cxn>
              <a:cxn ang="0">
                <a:pos x="0" y="603"/>
              </a:cxn>
              <a:cxn ang="0">
                <a:pos x="183" y="603"/>
              </a:cxn>
            </a:cxnLst>
            <a:rect l="0" t="0" r="r" b="b"/>
            <a:pathLst>
              <a:path w="819" h="819">
                <a:moveTo>
                  <a:pt x="183" y="603"/>
                </a:moveTo>
                <a:cubicBezTo>
                  <a:pt x="249" y="603"/>
                  <a:pt x="265" y="619"/>
                  <a:pt x="256" y="638"/>
                </a:cubicBezTo>
                <a:cubicBezTo>
                  <a:pt x="239" y="675"/>
                  <a:pt x="210" y="680"/>
                  <a:pt x="218" y="731"/>
                </a:cubicBezTo>
                <a:cubicBezTo>
                  <a:pt x="231" y="819"/>
                  <a:pt x="372" y="819"/>
                  <a:pt x="386" y="731"/>
                </a:cubicBezTo>
                <a:cubicBezTo>
                  <a:pt x="394" y="680"/>
                  <a:pt x="364" y="675"/>
                  <a:pt x="347" y="638"/>
                </a:cubicBezTo>
                <a:cubicBezTo>
                  <a:pt x="339" y="619"/>
                  <a:pt x="354" y="603"/>
                  <a:pt x="420" y="603"/>
                </a:cubicBezTo>
                <a:cubicBezTo>
                  <a:pt x="603" y="603"/>
                  <a:pt x="603" y="603"/>
                  <a:pt x="603" y="603"/>
                </a:cubicBezTo>
                <a:cubicBezTo>
                  <a:pt x="603" y="420"/>
                  <a:pt x="603" y="420"/>
                  <a:pt x="603" y="420"/>
                </a:cubicBezTo>
                <a:cubicBezTo>
                  <a:pt x="603" y="354"/>
                  <a:pt x="619" y="338"/>
                  <a:pt x="639" y="347"/>
                </a:cubicBezTo>
                <a:cubicBezTo>
                  <a:pt x="675" y="364"/>
                  <a:pt x="680" y="393"/>
                  <a:pt x="731" y="385"/>
                </a:cubicBezTo>
                <a:cubicBezTo>
                  <a:pt x="819" y="372"/>
                  <a:pt x="819" y="231"/>
                  <a:pt x="731" y="217"/>
                </a:cubicBezTo>
                <a:cubicBezTo>
                  <a:pt x="680" y="209"/>
                  <a:pt x="675" y="239"/>
                  <a:pt x="639" y="256"/>
                </a:cubicBezTo>
                <a:cubicBezTo>
                  <a:pt x="619" y="264"/>
                  <a:pt x="603" y="249"/>
                  <a:pt x="603" y="183"/>
                </a:cubicBezTo>
                <a:cubicBezTo>
                  <a:pt x="603" y="0"/>
                  <a:pt x="603" y="0"/>
                  <a:pt x="603" y="0"/>
                </a:cubicBezTo>
                <a:cubicBezTo>
                  <a:pt x="420" y="0"/>
                  <a:pt x="420" y="0"/>
                  <a:pt x="420" y="0"/>
                </a:cubicBezTo>
                <a:cubicBezTo>
                  <a:pt x="354" y="0"/>
                  <a:pt x="339" y="16"/>
                  <a:pt x="347" y="35"/>
                </a:cubicBezTo>
                <a:cubicBezTo>
                  <a:pt x="364" y="72"/>
                  <a:pt x="394" y="76"/>
                  <a:pt x="386" y="128"/>
                </a:cubicBezTo>
                <a:cubicBezTo>
                  <a:pt x="372" y="216"/>
                  <a:pt x="231" y="216"/>
                  <a:pt x="218" y="128"/>
                </a:cubicBezTo>
                <a:cubicBezTo>
                  <a:pt x="210" y="76"/>
                  <a:pt x="239" y="72"/>
                  <a:pt x="256" y="35"/>
                </a:cubicBezTo>
                <a:cubicBezTo>
                  <a:pt x="265" y="16"/>
                  <a:pt x="249" y="0"/>
                  <a:pt x="18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249"/>
                  <a:pt x="16" y="264"/>
                  <a:pt x="35" y="256"/>
                </a:cubicBezTo>
                <a:cubicBezTo>
                  <a:pt x="72" y="239"/>
                  <a:pt x="77" y="209"/>
                  <a:pt x="128" y="217"/>
                </a:cubicBezTo>
                <a:cubicBezTo>
                  <a:pt x="216" y="231"/>
                  <a:pt x="216" y="372"/>
                  <a:pt x="128" y="385"/>
                </a:cubicBezTo>
                <a:cubicBezTo>
                  <a:pt x="77" y="393"/>
                  <a:pt x="72" y="364"/>
                  <a:pt x="35" y="347"/>
                </a:cubicBezTo>
                <a:cubicBezTo>
                  <a:pt x="16" y="338"/>
                  <a:pt x="0" y="354"/>
                  <a:pt x="0" y="420"/>
                </a:cubicBezTo>
                <a:cubicBezTo>
                  <a:pt x="0" y="603"/>
                  <a:pt x="0" y="603"/>
                  <a:pt x="0" y="603"/>
                </a:cubicBezTo>
                <a:lnTo>
                  <a:pt x="183" y="603"/>
                </a:lnTo>
                <a:close/>
              </a:path>
            </a:pathLst>
          </a:custGeom>
          <a:solidFill>
            <a:schemeClr val="accent4"/>
          </a:solidFill>
          <a:ln w="19050">
            <a:solidFill>
              <a:srgbClr val="FFFFFF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pPr defTabSz="457200">
              <a:defRPr/>
            </a:pPr>
            <a:endParaRPr lang="en-US" sz="9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6" name="Freeform 78"/>
          <p:cNvSpPr/>
          <p:nvPr/>
        </p:nvSpPr>
        <p:spPr bwMode="auto">
          <a:xfrm>
            <a:off x="3889049" y="3073844"/>
            <a:ext cx="2205363" cy="2203315"/>
          </a:xfrm>
          <a:custGeom>
            <a:avLst/>
            <a:gdLst/>
            <a:ahLst/>
            <a:cxnLst>
              <a:cxn ang="0">
                <a:pos x="399" y="216"/>
              </a:cxn>
              <a:cxn ang="0">
                <a:pos x="472" y="181"/>
              </a:cxn>
              <a:cxn ang="0">
                <a:pos x="433" y="88"/>
              </a:cxn>
              <a:cxn ang="0">
                <a:pos x="601" y="88"/>
              </a:cxn>
              <a:cxn ang="0">
                <a:pos x="563" y="181"/>
              </a:cxn>
              <a:cxn ang="0">
                <a:pos x="636" y="216"/>
              </a:cxn>
              <a:cxn ang="0">
                <a:pos x="819" y="216"/>
              </a:cxn>
              <a:cxn ang="0">
                <a:pos x="819" y="399"/>
              </a:cxn>
              <a:cxn ang="0">
                <a:pos x="784" y="472"/>
              </a:cxn>
              <a:cxn ang="0">
                <a:pos x="691" y="434"/>
              </a:cxn>
              <a:cxn ang="0">
                <a:pos x="691" y="602"/>
              </a:cxn>
              <a:cxn ang="0">
                <a:pos x="784" y="563"/>
              </a:cxn>
              <a:cxn ang="0">
                <a:pos x="819" y="636"/>
              </a:cxn>
              <a:cxn ang="0">
                <a:pos x="819" y="819"/>
              </a:cxn>
              <a:cxn ang="0">
                <a:pos x="636" y="819"/>
              </a:cxn>
              <a:cxn ang="0">
                <a:pos x="563" y="784"/>
              </a:cxn>
              <a:cxn ang="0">
                <a:pos x="601" y="691"/>
              </a:cxn>
              <a:cxn ang="0">
                <a:pos x="433" y="691"/>
              </a:cxn>
              <a:cxn ang="0">
                <a:pos x="472" y="784"/>
              </a:cxn>
              <a:cxn ang="0">
                <a:pos x="399" y="819"/>
              </a:cxn>
              <a:cxn ang="0">
                <a:pos x="216" y="819"/>
              </a:cxn>
              <a:cxn ang="0">
                <a:pos x="216" y="636"/>
              </a:cxn>
              <a:cxn ang="0">
                <a:pos x="180" y="563"/>
              </a:cxn>
              <a:cxn ang="0">
                <a:pos x="88" y="602"/>
              </a:cxn>
              <a:cxn ang="0">
                <a:pos x="88" y="434"/>
              </a:cxn>
              <a:cxn ang="0">
                <a:pos x="180" y="472"/>
              </a:cxn>
              <a:cxn ang="0">
                <a:pos x="216" y="399"/>
              </a:cxn>
              <a:cxn ang="0">
                <a:pos x="216" y="216"/>
              </a:cxn>
              <a:cxn ang="0">
                <a:pos x="399" y="216"/>
              </a:cxn>
            </a:cxnLst>
            <a:rect l="0" t="0" r="r" b="b"/>
            <a:pathLst>
              <a:path w="819" h="819">
                <a:moveTo>
                  <a:pt x="399" y="216"/>
                </a:moveTo>
                <a:cubicBezTo>
                  <a:pt x="465" y="216"/>
                  <a:pt x="480" y="200"/>
                  <a:pt x="472" y="181"/>
                </a:cubicBezTo>
                <a:cubicBezTo>
                  <a:pt x="455" y="144"/>
                  <a:pt x="425" y="139"/>
                  <a:pt x="433" y="88"/>
                </a:cubicBezTo>
                <a:cubicBezTo>
                  <a:pt x="447" y="0"/>
                  <a:pt x="588" y="0"/>
                  <a:pt x="601" y="88"/>
                </a:cubicBezTo>
                <a:cubicBezTo>
                  <a:pt x="609" y="139"/>
                  <a:pt x="580" y="144"/>
                  <a:pt x="563" y="181"/>
                </a:cubicBezTo>
                <a:cubicBezTo>
                  <a:pt x="554" y="200"/>
                  <a:pt x="570" y="216"/>
                  <a:pt x="636" y="216"/>
                </a:cubicBezTo>
                <a:cubicBezTo>
                  <a:pt x="819" y="216"/>
                  <a:pt x="819" y="216"/>
                  <a:pt x="819" y="216"/>
                </a:cubicBezTo>
                <a:cubicBezTo>
                  <a:pt x="819" y="399"/>
                  <a:pt x="819" y="399"/>
                  <a:pt x="819" y="399"/>
                </a:cubicBezTo>
                <a:cubicBezTo>
                  <a:pt x="819" y="465"/>
                  <a:pt x="803" y="481"/>
                  <a:pt x="784" y="472"/>
                </a:cubicBezTo>
                <a:cubicBezTo>
                  <a:pt x="747" y="455"/>
                  <a:pt x="742" y="426"/>
                  <a:pt x="691" y="434"/>
                </a:cubicBezTo>
                <a:cubicBezTo>
                  <a:pt x="603" y="447"/>
                  <a:pt x="603" y="588"/>
                  <a:pt x="691" y="602"/>
                </a:cubicBezTo>
                <a:cubicBezTo>
                  <a:pt x="742" y="610"/>
                  <a:pt x="747" y="580"/>
                  <a:pt x="784" y="563"/>
                </a:cubicBezTo>
                <a:cubicBezTo>
                  <a:pt x="803" y="555"/>
                  <a:pt x="819" y="570"/>
                  <a:pt x="819" y="636"/>
                </a:cubicBezTo>
                <a:cubicBezTo>
                  <a:pt x="819" y="819"/>
                  <a:pt x="819" y="819"/>
                  <a:pt x="819" y="819"/>
                </a:cubicBezTo>
                <a:cubicBezTo>
                  <a:pt x="636" y="819"/>
                  <a:pt x="636" y="819"/>
                  <a:pt x="636" y="819"/>
                </a:cubicBezTo>
                <a:cubicBezTo>
                  <a:pt x="570" y="819"/>
                  <a:pt x="554" y="803"/>
                  <a:pt x="563" y="784"/>
                </a:cubicBezTo>
                <a:cubicBezTo>
                  <a:pt x="580" y="747"/>
                  <a:pt x="609" y="743"/>
                  <a:pt x="601" y="691"/>
                </a:cubicBezTo>
                <a:cubicBezTo>
                  <a:pt x="588" y="603"/>
                  <a:pt x="447" y="603"/>
                  <a:pt x="433" y="691"/>
                </a:cubicBezTo>
                <a:cubicBezTo>
                  <a:pt x="425" y="743"/>
                  <a:pt x="455" y="747"/>
                  <a:pt x="472" y="784"/>
                </a:cubicBezTo>
                <a:cubicBezTo>
                  <a:pt x="480" y="803"/>
                  <a:pt x="465" y="819"/>
                  <a:pt x="399" y="819"/>
                </a:cubicBezTo>
                <a:cubicBezTo>
                  <a:pt x="216" y="819"/>
                  <a:pt x="216" y="819"/>
                  <a:pt x="216" y="819"/>
                </a:cubicBezTo>
                <a:cubicBezTo>
                  <a:pt x="216" y="636"/>
                  <a:pt x="216" y="636"/>
                  <a:pt x="216" y="636"/>
                </a:cubicBezTo>
                <a:cubicBezTo>
                  <a:pt x="216" y="570"/>
                  <a:pt x="200" y="555"/>
                  <a:pt x="180" y="563"/>
                </a:cubicBezTo>
                <a:cubicBezTo>
                  <a:pt x="144" y="580"/>
                  <a:pt x="139" y="610"/>
                  <a:pt x="88" y="602"/>
                </a:cubicBezTo>
                <a:cubicBezTo>
                  <a:pt x="0" y="588"/>
                  <a:pt x="0" y="447"/>
                  <a:pt x="88" y="434"/>
                </a:cubicBezTo>
                <a:cubicBezTo>
                  <a:pt x="139" y="426"/>
                  <a:pt x="144" y="455"/>
                  <a:pt x="180" y="472"/>
                </a:cubicBezTo>
                <a:cubicBezTo>
                  <a:pt x="200" y="481"/>
                  <a:pt x="216" y="465"/>
                  <a:pt x="216" y="399"/>
                </a:cubicBezTo>
                <a:cubicBezTo>
                  <a:pt x="216" y="216"/>
                  <a:pt x="216" y="216"/>
                  <a:pt x="216" y="216"/>
                </a:cubicBezTo>
                <a:lnTo>
                  <a:pt x="399" y="216"/>
                </a:lnTo>
                <a:close/>
              </a:path>
            </a:pathLst>
          </a:custGeom>
          <a:solidFill>
            <a:schemeClr val="accent3"/>
          </a:solidFill>
          <a:ln w="19050">
            <a:solidFill>
              <a:srgbClr val="FFFFFF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pPr defTabSz="457200">
              <a:defRPr/>
            </a:pPr>
            <a:endParaRPr lang="en-US" sz="9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8" name="Freeform 77"/>
          <p:cNvSpPr/>
          <p:nvPr/>
        </p:nvSpPr>
        <p:spPr bwMode="auto">
          <a:xfrm>
            <a:off x="4471134" y="1450565"/>
            <a:ext cx="2205363" cy="2203315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rgbClr val="FFFFFF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pPr defTabSz="457200">
              <a:defRPr/>
            </a:pPr>
            <a:endParaRPr lang="en-US" sz="9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9" name="Freeform 79"/>
          <p:cNvSpPr/>
          <p:nvPr/>
        </p:nvSpPr>
        <p:spPr bwMode="auto">
          <a:xfrm>
            <a:off x="5512328" y="3653879"/>
            <a:ext cx="2205363" cy="2205364"/>
          </a:xfrm>
          <a:custGeom>
            <a:avLst/>
            <a:gdLst/>
            <a:ahLst/>
            <a:cxnLst>
              <a:cxn ang="0">
                <a:pos x="216" y="420"/>
              </a:cxn>
              <a:cxn ang="0">
                <a:pos x="181" y="347"/>
              </a:cxn>
              <a:cxn ang="0">
                <a:pos x="88" y="386"/>
              </a:cxn>
              <a:cxn ang="0">
                <a:pos x="88" y="218"/>
              </a:cxn>
              <a:cxn ang="0">
                <a:pos x="181" y="256"/>
              </a:cxn>
              <a:cxn ang="0">
                <a:pos x="216" y="183"/>
              </a:cxn>
              <a:cxn ang="0">
                <a:pos x="216" y="0"/>
              </a:cxn>
              <a:cxn ang="0">
                <a:pos x="399" y="0"/>
              </a:cxn>
              <a:cxn ang="0">
                <a:pos x="472" y="35"/>
              </a:cxn>
              <a:cxn ang="0">
                <a:pos x="434" y="128"/>
              </a:cxn>
              <a:cxn ang="0">
                <a:pos x="602" y="128"/>
              </a:cxn>
              <a:cxn ang="0">
                <a:pos x="563" y="35"/>
              </a:cxn>
              <a:cxn ang="0">
                <a:pos x="636" y="0"/>
              </a:cxn>
              <a:cxn ang="0">
                <a:pos x="819" y="0"/>
              </a:cxn>
              <a:cxn ang="0">
                <a:pos x="819" y="183"/>
              </a:cxn>
              <a:cxn ang="0">
                <a:pos x="784" y="256"/>
              </a:cxn>
              <a:cxn ang="0">
                <a:pos x="691" y="218"/>
              </a:cxn>
              <a:cxn ang="0">
                <a:pos x="691" y="386"/>
              </a:cxn>
              <a:cxn ang="0">
                <a:pos x="784" y="347"/>
              </a:cxn>
              <a:cxn ang="0">
                <a:pos x="819" y="420"/>
              </a:cxn>
              <a:cxn ang="0">
                <a:pos x="819" y="603"/>
              </a:cxn>
              <a:cxn ang="0">
                <a:pos x="636" y="603"/>
              </a:cxn>
              <a:cxn ang="0">
                <a:pos x="563" y="639"/>
              </a:cxn>
              <a:cxn ang="0">
                <a:pos x="602" y="731"/>
              </a:cxn>
              <a:cxn ang="0">
                <a:pos x="434" y="731"/>
              </a:cxn>
              <a:cxn ang="0">
                <a:pos x="472" y="639"/>
              </a:cxn>
              <a:cxn ang="0">
                <a:pos x="399" y="603"/>
              </a:cxn>
              <a:cxn ang="0">
                <a:pos x="216" y="603"/>
              </a:cxn>
              <a:cxn ang="0">
                <a:pos x="216" y="420"/>
              </a:cxn>
            </a:cxnLst>
            <a:rect l="0" t="0" r="r" b="b"/>
            <a:pathLst>
              <a:path w="819" h="819">
                <a:moveTo>
                  <a:pt x="216" y="420"/>
                </a:moveTo>
                <a:cubicBezTo>
                  <a:pt x="216" y="354"/>
                  <a:pt x="200" y="339"/>
                  <a:pt x="181" y="347"/>
                </a:cubicBezTo>
                <a:cubicBezTo>
                  <a:pt x="144" y="364"/>
                  <a:pt x="139" y="394"/>
                  <a:pt x="88" y="386"/>
                </a:cubicBezTo>
                <a:cubicBezTo>
                  <a:pt x="0" y="372"/>
                  <a:pt x="0" y="231"/>
                  <a:pt x="88" y="218"/>
                </a:cubicBezTo>
                <a:cubicBezTo>
                  <a:pt x="139" y="210"/>
                  <a:pt x="144" y="239"/>
                  <a:pt x="181" y="256"/>
                </a:cubicBezTo>
                <a:cubicBezTo>
                  <a:pt x="200" y="265"/>
                  <a:pt x="216" y="249"/>
                  <a:pt x="216" y="183"/>
                </a:cubicBezTo>
                <a:cubicBezTo>
                  <a:pt x="216" y="0"/>
                  <a:pt x="216" y="0"/>
                  <a:pt x="216" y="0"/>
                </a:cubicBezTo>
                <a:cubicBezTo>
                  <a:pt x="399" y="0"/>
                  <a:pt x="399" y="0"/>
                  <a:pt x="399" y="0"/>
                </a:cubicBezTo>
                <a:cubicBezTo>
                  <a:pt x="465" y="0"/>
                  <a:pt x="481" y="16"/>
                  <a:pt x="472" y="35"/>
                </a:cubicBezTo>
                <a:cubicBezTo>
                  <a:pt x="455" y="72"/>
                  <a:pt x="426" y="77"/>
                  <a:pt x="434" y="128"/>
                </a:cubicBezTo>
                <a:cubicBezTo>
                  <a:pt x="447" y="216"/>
                  <a:pt x="588" y="216"/>
                  <a:pt x="602" y="128"/>
                </a:cubicBezTo>
                <a:cubicBezTo>
                  <a:pt x="610" y="77"/>
                  <a:pt x="580" y="72"/>
                  <a:pt x="563" y="35"/>
                </a:cubicBezTo>
                <a:cubicBezTo>
                  <a:pt x="555" y="16"/>
                  <a:pt x="570" y="0"/>
                  <a:pt x="636" y="0"/>
                </a:cubicBezTo>
                <a:cubicBezTo>
                  <a:pt x="819" y="0"/>
                  <a:pt x="819" y="0"/>
                  <a:pt x="819" y="0"/>
                </a:cubicBezTo>
                <a:cubicBezTo>
                  <a:pt x="819" y="183"/>
                  <a:pt x="819" y="183"/>
                  <a:pt x="819" y="183"/>
                </a:cubicBezTo>
                <a:cubicBezTo>
                  <a:pt x="819" y="249"/>
                  <a:pt x="803" y="265"/>
                  <a:pt x="784" y="256"/>
                </a:cubicBezTo>
                <a:cubicBezTo>
                  <a:pt x="747" y="239"/>
                  <a:pt x="743" y="210"/>
                  <a:pt x="691" y="218"/>
                </a:cubicBezTo>
                <a:cubicBezTo>
                  <a:pt x="603" y="231"/>
                  <a:pt x="603" y="372"/>
                  <a:pt x="691" y="386"/>
                </a:cubicBezTo>
                <a:cubicBezTo>
                  <a:pt x="743" y="394"/>
                  <a:pt x="747" y="364"/>
                  <a:pt x="784" y="347"/>
                </a:cubicBezTo>
                <a:cubicBezTo>
                  <a:pt x="803" y="339"/>
                  <a:pt x="819" y="354"/>
                  <a:pt x="819" y="420"/>
                </a:cubicBezTo>
                <a:cubicBezTo>
                  <a:pt x="819" y="603"/>
                  <a:pt x="819" y="603"/>
                  <a:pt x="819" y="603"/>
                </a:cubicBezTo>
                <a:cubicBezTo>
                  <a:pt x="636" y="603"/>
                  <a:pt x="636" y="603"/>
                  <a:pt x="636" y="603"/>
                </a:cubicBezTo>
                <a:cubicBezTo>
                  <a:pt x="570" y="603"/>
                  <a:pt x="555" y="619"/>
                  <a:pt x="563" y="639"/>
                </a:cubicBezTo>
                <a:cubicBezTo>
                  <a:pt x="580" y="675"/>
                  <a:pt x="610" y="680"/>
                  <a:pt x="602" y="731"/>
                </a:cubicBezTo>
                <a:cubicBezTo>
                  <a:pt x="588" y="819"/>
                  <a:pt x="447" y="819"/>
                  <a:pt x="434" y="731"/>
                </a:cubicBezTo>
                <a:cubicBezTo>
                  <a:pt x="426" y="680"/>
                  <a:pt x="455" y="675"/>
                  <a:pt x="472" y="639"/>
                </a:cubicBezTo>
                <a:cubicBezTo>
                  <a:pt x="481" y="619"/>
                  <a:pt x="465" y="603"/>
                  <a:pt x="399" y="603"/>
                </a:cubicBezTo>
                <a:cubicBezTo>
                  <a:pt x="216" y="603"/>
                  <a:pt x="216" y="603"/>
                  <a:pt x="216" y="603"/>
                </a:cubicBezTo>
                <a:lnTo>
                  <a:pt x="216" y="420"/>
                </a:lnTo>
                <a:close/>
              </a:path>
            </a:pathLst>
          </a:custGeom>
          <a:solidFill>
            <a:schemeClr val="accent5"/>
          </a:solidFill>
          <a:ln w="19050">
            <a:solidFill>
              <a:srgbClr val="FFFFFF"/>
            </a:solidFill>
            <a:round/>
          </a:ln>
        </p:spPr>
        <p:txBody>
          <a:bodyPr vert="horz" wrap="square" lIns="45720" tIns="22860" rIns="45720" bIns="22860" numCol="1" anchor="t" anchorCtr="0" compatLnSpc="1"/>
          <a:lstStyle/>
          <a:p>
            <a:pPr defTabSz="457200">
              <a:defRPr/>
            </a:pPr>
            <a:endParaRPr lang="en-US" sz="900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0" name="TextBox 39"/>
          <p:cNvSpPr txBox="1"/>
          <p:nvPr/>
        </p:nvSpPr>
        <p:spPr>
          <a:xfrm>
            <a:off x="1935677" y="2160000"/>
            <a:ext cx="1724383" cy="461671"/>
          </a:xfrm>
          <a:prstGeom prst="rect">
            <a:avLst/>
          </a:prstGeom>
          <a:noFill/>
        </p:spPr>
        <p:txBody>
          <a:bodyPr wrap="square" lIns="91445" tIns="45723" rIns="91445" bIns="45723" rtlCol="0">
            <a:spAutoFit/>
          </a:bodyPr>
          <a:lstStyle/>
          <a:p>
            <a:pPr algn="r"/>
            <a:r>
              <a:rPr lang="en-US" sz="2400" u="sng" dirty="0">
                <a:solidFill>
                  <a:schemeClr val="bg1"/>
                </a:solidFill>
                <a:cs typeface="+mn-ea"/>
                <a:sym typeface="+mn-lt"/>
              </a:rPr>
              <a:t>Framework</a:t>
            </a:r>
            <a:endParaRPr lang="id-ID" sz="2400" u="sng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Rectangle 40"/>
          <p:cNvSpPr/>
          <p:nvPr/>
        </p:nvSpPr>
        <p:spPr>
          <a:xfrm>
            <a:off x="1579521" y="2580566"/>
            <a:ext cx="2068664" cy="1077224"/>
          </a:xfrm>
          <a:prstGeom prst="rect">
            <a:avLst/>
          </a:prstGeom>
        </p:spPr>
        <p:txBody>
          <a:bodyPr wrap="square" lIns="91445" tIns="45723" rIns="91445" bIns="45723">
            <a:spAutoFit/>
          </a:bodyPr>
          <a:lstStyle/>
          <a:p>
            <a:pPr algn="r"/>
            <a:r>
              <a:rPr lang="en-US" altLang="zh-TW" sz="3200" dirty="0">
                <a:solidFill>
                  <a:schemeClr val="bg1"/>
                </a:solidFill>
                <a:cs typeface="+mn-ea"/>
                <a:sym typeface="+mn-lt"/>
              </a:rPr>
              <a:t>Spring</a:t>
            </a:r>
          </a:p>
          <a:p>
            <a:pPr algn="r"/>
            <a:r>
              <a:rPr lang="en-US" altLang="zh-TW" sz="3200" dirty="0">
                <a:solidFill>
                  <a:schemeClr val="bg1"/>
                </a:solidFill>
                <a:cs typeface="+mn-ea"/>
                <a:sym typeface="+mn-lt"/>
              </a:rPr>
              <a:t>+Hibernate</a:t>
            </a:r>
            <a:endParaRPr lang="en-US" sz="3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Rectangle 42"/>
          <p:cNvSpPr/>
          <p:nvPr/>
        </p:nvSpPr>
        <p:spPr>
          <a:xfrm>
            <a:off x="898636" y="4375017"/>
            <a:ext cx="2783072" cy="954113"/>
          </a:xfrm>
          <a:prstGeom prst="rect">
            <a:avLst/>
          </a:prstGeom>
        </p:spPr>
        <p:txBody>
          <a:bodyPr wrap="square" lIns="91445" tIns="45723" rIns="91445" bIns="45723">
            <a:spAutoFit/>
          </a:bodyPr>
          <a:lstStyle/>
          <a:p>
            <a:pPr algn="r"/>
            <a:r>
              <a:rPr lang="fr-FR" sz="2800" dirty="0">
                <a:solidFill>
                  <a:schemeClr val="bg1"/>
                </a:solidFill>
                <a:cs typeface="+mn-ea"/>
                <a:sym typeface="+mn-lt"/>
              </a:rPr>
              <a:t>HTML5+CSS3</a:t>
            </a:r>
          </a:p>
          <a:p>
            <a:pPr algn="r"/>
            <a:r>
              <a:rPr lang="fr-FR" sz="2800" dirty="0">
                <a:solidFill>
                  <a:schemeClr val="bg1"/>
                </a:solidFill>
                <a:cs typeface="+mn-ea"/>
                <a:sym typeface="+mn-lt"/>
              </a:rPr>
              <a:t>+JSP+JavaScript</a:t>
            </a:r>
            <a:endParaRPr 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Rectangle 44"/>
          <p:cNvSpPr/>
          <p:nvPr/>
        </p:nvSpPr>
        <p:spPr>
          <a:xfrm>
            <a:off x="8313710" y="3033674"/>
            <a:ext cx="2340783" cy="584782"/>
          </a:xfrm>
          <a:prstGeom prst="rect">
            <a:avLst/>
          </a:prstGeom>
        </p:spPr>
        <p:txBody>
          <a:bodyPr wrap="square" lIns="91445" tIns="45723" rIns="91445" bIns="45723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cs typeface="+mn-ea"/>
                <a:sym typeface="+mn-lt"/>
              </a:rPr>
              <a:t>Maven</a:t>
            </a:r>
            <a:endParaRPr lang="en-US" sz="3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TextBox 45"/>
          <p:cNvSpPr txBox="1"/>
          <p:nvPr/>
        </p:nvSpPr>
        <p:spPr>
          <a:xfrm>
            <a:off x="8319641" y="3740400"/>
            <a:ext cx="3315311" cy="461671"/>
          </a:xfrm>
          <a:prstGeom prst="rect">
            <a:avLst/>
          </a:prstGeom>
          <a:noFill/>
        </p:spPr>
        <p:txBody>
          <a:bodyPr wrap="square" lIns="91445" tIns="45723" rIns="91445" bIns="45723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sz="2400" u="sng" dirty="0">
                <a:solidFill>
                  <a:schemeClr val="bg1"/>
                </a:solidFill>
                <a:cs typeface="+mn-ea"/>
                <a:sym typeface="+mn-lt"/>
              </a:rPr>
              <a:t>Data Interchange Format</a:t>
            </a:r>
            <a:endParaRPr lang="id-ID" sz="2400" u="sng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29385" y="2160000"/>
            <a:ext cx="2812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400" u="sng" dirty="0">
                <a:solidFill>
                  <a:schemeClr val="bg1"/>
                </a:solidFill>
                <a:cs typeface="+mn-ea"/>
                <a:sym typeface="+mn-lt"/>
              </a:rPr>
              <a:t>Project Management</a:t>
            </a:r>
            <a:endParaRPr lang="id-ID" sz="2400" u="sng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56115" y="3740438"/>
            <a:ext cx="14239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  <a:cs typeface="+mn-ea"/>
                <a:sym typeface="+mn-lt"/>
              </a:rPr>
              <a:t>Front-end</a:t>
            </a:r>
            <a:endParaRPr lang="id-ID" sz="2400" u="sng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396844" y="4653401"/>
            <a:ext cx="10422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cs typeface="+mn-ea"/>
                <a:sym typeface="+mn-lt"/>
              </a:rPr>
              <a:t>JSON</a:t>
            </a:r>
            <a:endParaRPr lang="en-US" sz="3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圓角矩形 16">
            <a:hlinkClick r:id="rId2" action="ppaction://hlinksldjump"/>
          </p:cNvPr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defRPr/>
            </a:pPr>
            <a:r>
              <a:rPr lang="zh-TW" altLang="en-US" sz="4000" dirty="0">
                <a:solidFill>
                  <a:schemeClr val="bg1"/>
                </a:solidFill>
                <a:cs typeface="+mn-ea"/>
                <a:sym typeface="+mn-lt"/>
              </a:rPr>
              <a:t>使 用 技 術</a:t>
            </a:r>
            <a:endParaRPr lang="zh-CN" alt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131" y="3461569"/>
            <a:ext cx="30670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圓角矩形 4"/>
          <p:cNvSpPr/>
          <p:nvPr/>
        </p:nvSpPr>
        <p:spPr>
          <a:xfrm>
            <a:off x="3236685" y="362857"/>
            <a:ext cx="6720115" cy="1422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713703" y="275067"/>
            <a:ext cx="8666435" cy="6243720"/>
          </a:xfrm>
          <a:prstGeom prst="roundRect">
            <a:avLst/>
          </a:prstGeom>
          <a:solidFill>
            <a:srgbClr val="FFFFFF">
              <a:alpha val="89000"/>
            </a:srgbClr>
          </a:solidFill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b="1" dirty="0">
                <a:solidFill>
                  <a:srgbClr val="3333CC"/>
                </a:solidFill>
              </a:rPr>
              <a:t>登入畫面</a:t>
            </a:r>
            <a:r>
              <a:rPr lang="en-US" altLang="zh-TW" sz="2400" b="1" dirty="0">
                <a:solidFill>
                  <a:srgbClr val="3333CC"/>
                </a:solidFill>
              </a:rPr>
              <a:t>:</a:t>
            </a:r>
          </a:p>
          <a:p>
            <a:pPr marL="174625" indent="-174625">
              <a:buFontTx/>
              <a:buChar char="-"/>
            </a:pPr>
            <a:r>
              <a:rPr lang="zh-TW" altLang="en-US" sz="2400" dirty="0">
                <a:solidFill>
                  <a:srgbClr val="3333CC"/>
                </a:solidFill>
              </a:rPr>
              <a:t>系統中 有公司的 </a:t>
            </a:r>
            <a:r>
              <a:rPr lang="zh-TW" altLang="en-US" sz="2400" u="heavy" dirty="0">
                <a:solidFill>
                  <a:srgbClr val="3333CC"/>
                </a:solidFill>
              </a:rPr>
              <a:t>生產進度 </a:t>
            </a:r>
            <a:r>
              <a:rPr lang="zh-TW" altLang="en-US" sz="2400" dirty="0">
                <a:solidFill>
                  <a:srgbClr val="3333CC"/>
                </a:solidFill>
              </a:rPr>
              <a:t>及</a:t>
            </a:r>
            <a:r>
              <a:rPr lang="zh-TW" altLang="en-US" sz="2400" u="heavy" dirty="0">
                <a:solidFill>
                  <a:srgbClr val="3333CC"/>
                </a:solidFill>
              </a:rPr>
              <a:t>訂單</a:t>
            </a:r>
            <a:r>
              <a:rPr lang="zh-TW" altLang="en-US" sz="2400" dirty="0">
                <a:solidFill>
                  <a:srgbClr val="3333CC"/>
                </a:solidFill>
              </a:rPr>
              <a:t> </a:t>
            </a:r>
            <a:r>
              <a:rPr lang="en-US" altLang="zh-TW" sz="2400" dirty="0">
                <a:solidFill>
                  <a:srgbClr val="3333CC"/>
                </a:solidFill>
              </a:rPr>
              <a:t>----</a:t>
            </a:r>
            <a:r>
              <a:rPr lang="zh-TW" altLang="en-US" sz="2400" dirty="0">
                <a:solidFill>
                  <a:srgbClr val="3333CC"/>
                </a:solidFill>
              </a:rPr>
              <a:t>等非公開資訊。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marL="174625" indent="-174625"/>
            <a:r>
              <a:rPr lang="en-US" altLang="zh-TW" sz="2400" dirty="0">
                <a:solidFill>
                  <a:srgbClr val="3333CC"/>
                </a:solidFill>
              </a:rPr>
              <a:t>	</a:t>
            </a:r>
            <a:r>
              <a:rPr lang="zh-TW" altLang="en-US" sz="2400" dirty="0">
                <a:solidFill>
                  <a:srgbClr val="3333CC"/>
                </a:solidFill>
              </a:rPr>
              <a:t>由公司經過 </a:t>
            </a:r>
            <a:r>
              <a:rPr lang="zh-TW" altLang="en-US" sz="2400" u="heavy" dirty="0">
                <a:solidFill>
                  <a:srgbClr val="3333CC"/>
                </a:solidFill>
              </a:rPr>
              <a:t>身分審核 </a:t>
            </a:r>
            <a:r>
              <a:rPr lang="zh-TW" altLang="en-US" sz="2400" dirty="0">
                <a:solidFill>
                  <a:srgbClr val="3333CC"/>
                </a:solidFill>
              </a:rPr>
              <a:t>後，將帳號及密碼輸入資料庫。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marL="174625" indent="-174625"/>
            <a:r>
              <a:rPr lang="en-US" altLang="zh-TW" sz="2400" dirty="0">
                <a:solidFill>
                  <a:srgbClr val="3333CC"/>
                </a:solidFill>
              </a:rPr>
              <a:t>	</a:t>
            </a:r>
            <a:r>
              <a:rPr lang="zh-TW" altLang="en-US" sz="2400" dirty="0">
                <a:solidFill>
                  <a:srgbClr val="3333CC"/>
                </a:solidFill>
              </a:rPr>
              <a:t>不能自行創建帳號及密碼。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r>
              <a:rPr lang="zh-TW" altLang="en-US" sz="2400" dirty="0">
                <a:solidFill>
                  <a:srgbClr val="3333CC"/>
                </a:solidFill>
              </a:rPr>
              <a:t>  若帳號及密碼不符，則跳回原畫面。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r>
              <a:rPr lang="zh-TW" altLang="en-US" sz="2400" dirty="0">
                <a:solidFill>
                  <a:srgbClr val="3333CC"/>
                </a:solidFill>
              </a:rPr>
              <a:t>  可進入系統後，分成三種身分 </a:t>
            </a:r>
            <a:r>
              <a:rPr lang="en-US" altLang="zh-TW" sz="2400" dirty="0">
                <a:solidFill>
                  <a:srgbClr val="3333CC"/>
                </a:solidFill>
              </a:rPr>
              <a:t>:</a:t>
            </a:r>
            <a:r>
              <a:rPr lang="zh-TW" altLang="en-US" sz="2400" dirty="0">
                <a:solidFill>
                  <a:srgbClr val="3333CC"/>
                </a:solidFill>
              </a:rPr>
              <a:t> 客戶、職員、主管。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en-US" altLang="zh-TW" sz="2400" dirty="0">
              <a:solidFill>
                <a:srgbClr val="3333CC"/>
              </a:solidFill>
            </a:endParaRPr>
          </a:p>
          <a:p>
            <a:pPr>
              <a:buFontTx/>
              <a:buChar char="-"/>
            </a:pP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6" name="圓角矩形 5">
            <a:hlinkClick r:id="rId3" action="ppaction://hlinksldjump"/>
          </p:cNvPr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cs typeface="+mn-ea"/>
                <a:sym typeface="+mn-lt"/>
              </a:rPr>
              <a:t>登入系統</a:t>
            </a:r>
            <a:endParaRPr lang="zh-TW" altLang="en-US" sz="4000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92285" y="3260008"/>
            <a:ext cx="306705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6607" y="2193209"/>
            <a:ext cx="5946826" cy="392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圓角矩形 3">
            <a:hlinkClick r:id="rId3" action="ppaction://hlinksldjump"/>
          </p:cNvPr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cs typeface="+mn-ea"/>
                <a:sym typeface="+mn-lt"/>
              </a:rPr>
              <a:t>功能選單 </a:t>
            </a:r>
            <a:endParaRPr lang="en-US" altLang="zh-TW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3786266" y="2142585"/>
            <a:ext cx="2270234" cy="4177863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3673365" y="283779"/>
            <a:ext cx="4615229" cy="1135118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909848" y="567559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3333CC"/>
                </a:solidFill>
              </a:rPr>
              <a:t>左側欄六個功能選項</a:t>
            </a:r>
          </a:p>
        </p:txBody>
      </p:sp>
      <p:sp>
        <p:nvSpPr>
          <p:cNvPr id="14" name="向下箭號 13"/>
          <p:cNvSpPr/>
          <p:nvPr/>
        </p:nvSpPr>
        <p:spPr>
          <a:xfrm>
            <a:off x="4593869" y="1408218"/>
            <a:ext cx="425668" cy="75979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>
            <a:hlinkClick r:id="rId2" action="ppaction://hlinksldjump"/>
          </p:cNvPr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cs typeface="+mn-ea"/>
                <a:sym typeface="+mn-lt"/>
              </a:rPr>
              <a:t>生產進度表</a:t>
            </a:r>
            <a:endParaRPr lang="en-US" altLang="zh-TW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26586" y="324433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cs typeface="+mn-ea"/>
                <a:sym typeface="+mn-lt"/>
              </a:rPr>
              <a:t>生產進度表</a:t>
            </a:r>
            <a:endParaRPr lang="en-US" altLang="zh-TW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62153"/>
            <a:ext cx="12192000" cy="6195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圓角矩形 7"/>
          <p:cNvSpPr/>
          <p:nvPr/>
        </p:nvSpPr>
        <p:spPr>
          <a:xfrm>
            <a:off x="5281446" y="1292771"/>
            <a:ext cx="5439105" cy="1450429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470633" y="1497725"/>
            <a:ext cx="52116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solidFill>
                  <a:srgbClr val="3333CC"/>
                </a:solidFill>
              </a:rPr>
              <a:t>客戶、職員、主管由此進度表</a:t>
            </a:r>
            <a:endParaRPr lang="en-US" altLang="zh-TW" sz="2800" dirty="0">
              <a:solidFill>
                <a:srgbClr val="3333CC"/>
              </a:solidFill>
            </a:endParaRPr>
          </a:p>
          <a:p>
            <a:r>
              <a:rPr lang="zh-TW" altLang="en-US" sz="2800" dirty="0">
                <a:solidFill>
                  <a:srgbClr val="3333CC"/>
                </a:solidFill>
              </a:rPr>
              <a:t>查詢訂單生產狀態，進行處理。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9112469" y="3578773"/>
            <a:ext cx="2885090" cy="291662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28234" y="3547241"/>
            <a:ext cx="2774732" cy="3090042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9424218" y="2920181"/>
            <a:ext cx="413463" cy="560438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93174"/>
            <a:ext cx="12190413" cy="616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圓角矩形 3">
            <a:hlinkClick r:id="rId3" action="ppaction://hlinksldjump"/>
          </p:cNvPr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cs typeface="+mn-ea"/>
                <a:sym typeface="+mn-lt"/>
              </a:rPr>
              <a:t>訂單明細</a:t>
            </a:r>
            <a:endParaRPr lang="en-US" altLang="zh-TW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984955" y="1448901"/>
            <a:ext cx="4778477" cy="1677757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392994" y="1595734"/>
            <a:ext cx="41344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此報表可查詢每一筆訂單。</a:t>
            </a:r>
            <a:endParaRPr lang="en-US" altLang="zh-TW" sz="2800" dirty="0">
              <a:solidFill>
                <a:srgbClr val="1F54E9"/>
              </a:solidFill>
            </a:endParaRPr>
          </a:p>
          <a:p>
            <a:r>
              <a:rPr lang="zh-TW" altLang="en-US" sz="2800" dirty="0">
                <a:solidFill>
                  <a:srgbClr val="1F54E9"/>
                </a:solidFill>
              </a:rPr>
              <a:t>點選按鈕 可新增、編輯 或刪除。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10648334" y="3488248"/>
            <a:ext cx="1254631" cy="2484849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10663085" y="2669459"/>
            <a:ext cx="353960" cy="752167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10014155" y="2020529"/>
            <a:ext cx="796413" cy="30971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/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提示生產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3" y="707924"/>
            <a:ext cx="12180887" cy="6150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圓角矩形 4"/>
          <p:cNvSpPr/>
          <p:nvPr/>
        </p:nvSpPr>
        <p:spPr>
          <a:xfrm>
            <a:off x="3436374" y="283779"/>
            <a:ext cx="5958350" cy="1135118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593690" y="386368"/>
            <a:ext cx="5668297" cy="95410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如果原物料足夠，系統自動提醒，</a:t>
            </a:r>
            <a:endParaRPr lang="en-US" altLang="zh-TW" sz="2800" dirty="0">
              <a:solidFill>
                <a:srgbClr val="1F54E9"/>
              </a:solidFill>
            </a:endParaRPr>
          </a:p>
          <a:p>
            <a:r>
              <a:rPr lang="zh-TW" altLang="en-US" sz="2800" dirty="0">
                <a:solidFill>
                  <a:srgbClr val="1F54E9"/>
                </a:solidFill>
              </a:rPr>
              <a:t> 詢問是否進行生產 </a:t>
            </a:r>
            <a:r>
              <a:rPr lang="en-US" altLang="zh-TW" sz="2800" dirty="0">
                <a:solidFill>
                  <a:srgbClr val="1F54E9"/>
                </a:solidFill>
              </a:rPr>
              <a:t>?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4852218" y="2160894"/>
            <a:ext cx="2610466" cy="1540952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6223584" y="1386350"/>
            <a:ext cx="339447" cy="79645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提示缺料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07923"/>
            <a:ext cx="12171363" cy="615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圓角矩形 4"/>
          <p:cNvSpPr/>
          <p:nvPr/>
        </p:nvSpPr>
        <p:spPr>
          <a:xfrm>
            <a:off x="3436374" y="283779"/>
            <a:ext cx="5958350" cy="1135118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711678" y="356872"/>
            <a:ext cx="5461820" cy="95410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如果 原物料不夠，系統自動提醒</a:t>
            </a:r>
            <a:endParaRPr lang="en-US" altLang="zh-TW" sz="2800" dirty="0">
              <a:solidFill>
                <a:srgbClr val="1F54E9"/>
              </a:solidFill>
            </a:endParaRPr>
          </a:p>
          <a:p>
            <a:r>
              <a:rPr lang="zh-TW" altLang="en-US" sz="2800" u="sng" dirty="0">
                <a:solidFill>
                  <a:srgbClr val="1F54E9"/>
                </a:solidFill>
              </a:rPr>
              <a:t>缺料</a:t>
            </a:r>
            <a:r>
              <a:rPr lang="zh-TW" altLang="en-US" sz="2800" dirty="0">
                <a:solidFill>
                  <a:srgbClr val="1F54E9"/>
                </a:solidFill>
              </a:rPr>
              <a:t>，無法 生產。另行處理。</a:t>
            </a:r>
            <a:endParaRPr lang="en-US" altLang="zh-TW" sz="2800" dirty="0">
              <a:solidFill>
                <a:srgbClr val="1F54E9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4793225" y="2175642"/>
            <a:ext cx="2610466" cy="1540952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6223584" y="1386350"/>
            <a:ext cx="339447" cy="79645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提示訂購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07923"/>
            <a:ext cx="12152313" cy="615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圓角矩形 4"/>
          <p:cNvSpPr/>
          <p:nvPr/>
        </p:nvSpPr>
        <p:spPr>
          <a:xfrm>
            <a:off x="3436373" y="283779"/>
            <a:ext cx="6636775" cy="1135118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711677" y="356872"/>
            <a:ext cx="6095999" cy="95410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如果原物料不夠，但供應商尚有庫存，系統自動提醒，向供應商下單採購</a:t>
            </a:r>
            <a:endParaRPr lang="en-US" altLang="zh-TW" sz="2800" dirty="0">
              <a:solidFill>
                <a:srgbClr val="1F54E9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4793225" y="2175642"/>
            <a:ext cx="2610466" cy="1540952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6223584" y="1489586"/>
            <a:ext cx="413190" cy="693213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93174"/>
            <a:ext cx="12190413" cy="616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圓角矩形 7"/>
          <p:cNvSpPr/>
          <p:nvPr/>
        </p:nvSpPr>
        <p:spPr>
          <a:xfrm>
            <a:off x="4527755" y="1448901"/>
            <a:ext cx="5073445" cy="2002222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客戶資訊</a:t>
            </a:r>
          </a:p>
        </p:txBody>
      </p:sp>
      <p:sp>
        <p:nvSpPr>
          <p:cNvPr id="5" name="矩形 4"/>
          <p:cNvSpPr/>
          <p:nvPr/>
        </p:nvSpPr>
        <p:spPr>
          <a:xfrm>
            <a:off x="4630994" y="1521994"/>
            <a:ext cx="4896464" cy="181588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審核客戶資料後，點按鈕 可新增客戶資料。</a:t>
            </a:r>
            <a:endParaRPr lang="en-US" altLang="zh-TW" sz="2800" dirty="0">
              <a:solidFill>
                <a:srgbClr val="1F54E9"/>
              </a:solidFill>
            </a:endParaRPr>
          </a:p>
          <a:p>
            <a:r>
              <a:rPr lang="zh-TW" altLang="en-US" sz="2800" dirty="0">
                <a:solidFill>
                  <a:srgbClr val="1F54E9"/>
                </a:solidFill>
              </a:rPr>
              <a:t>客戶</a:t>
            </a:r>
            <a:r>
              <a:rPr lang="en-US" altLang="zh-TW" sz="2800" dirty="0">
                <a:solidFill>
                  <a:srgbClr val="1F54E9"/>
                </a:solidFill>
              </a:rPr>
              <a:t>:</a:t>
            </a:r>
            <a:r>
              <a:rPr lang="zh-TW" altLang="en-US" sz="2800" dirty="0">
                <a:solidFill>
                  <a:srgbClr val="1F54E9"/>
                </a:solidFill>
              </a:rPr>
              <a:t>有帳號 及密碼</a:t>
            </a:r>
            <a:r>
              <a:rPr lang="en-US" altLang="zh-TW" sz="2800" dirty="0">
                <a:solidFill>
                  <a:srgbClr val="1F54E9"/>
                </a:solidFill>
              </a:rPr>
              <a:t>(</a:t>
            </a:r>
            <a:r>
              <a:rPr lang="zh-TW" altLang="en-US" sz="2800" dirty="0">
                <a:solidFill>
                  <a:srgbClr val="1F54E9"/>
                </a:solidFill>
              </a:rPr>
              <a:t>隱藏</a:t>
            </a:r>
            <a:r>
              <a:rPr lang="en-US" altLang="zh-TW" sz="2800" dirty="0">
                <a:solidFill>
                  <a:srgbClr val="1F54E9"/>
                </a:solidFill>
              </a:rPr>
              <a:t>)</a:t>
            </a:r>
            <a:r>
              <a:rPr lang="zh-TW" altLang="en-US" sz="2800" dirty="0">
                <a:solidFill>
                  <a:srgbClr val="1F54E9"/>
                </a:solidFill>
              </a:rPr>
              <a:t>，才可以登入系統查詢資料。</a:t>
            </a:r>
            <a:endParaRPr lang="en-US" altLang="zh-TW" sz="2800" dirty="0">
              <a:solidFill>
                <a:srgbClr val="1F54E9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10633586" y="3628103"/>
            <a:ext cx="1371601" cy="3052916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下箭號 6"/>
          <p:cNvSpPr/>
          <p:nvPr/>
        </p:nvSpPr>
        <p:spPr>
          <a:xfrm>
            <a:off x="10898824" y="2669457"/>
            <a:ext cx="413190" cy="855408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右箭號 9"/>
          <p:cNvSpPr/>
          <p:nvPr/>
        </p:nvSpPr>
        <p:spPr>
          <a:xfrm>
            <a:off x="9807676" y="1991032"/>
            <a:ext cx="1017639" cy="33921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git\員工資料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707923"/>
            <a:ext cx="12192000" cy="6150077"/>
          </a:xfrm>
          <a:prstGeom prst="rect">
            <a:avLst/>
          </a:prstGeom>
          <a:noFill/>
        </p:spPr>
      </p:pic>
      <p:sp>
        <p:nvSpPr>
          <p:cNvPr id="4" name="圓角矩形 3"/>
          <p:cNvSpPr/>
          <p:nvPr/>
        </p:nvSpPr>
        <p:spPr>
          <a:xfrm>
            <a:off x="0" y="0"/>
            <a:ext cx="289068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員工資料</a:t>
            </a:r>
          </a:p>
        </p:txBody>
      </p:sp>
      <p:sp>
        <p:nvSpPr>
          <p:cNvPr id="5" name="圓角矩形 4"/>
          <p:cNvSpPr/>
          <p:nvPr/>
        </p:nvSpPr>
        <p:spPr>
          <a:xfrm>
            <a:off x="5471653" y="1522644"/>
            <a:ext cx="3651312" cy="132379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810865" y="1639983"/>
            <a:ext cx="3215148" cy="95410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點選按鈕新增、編輯或刪除員工資料</a:t>
            </a:r>
            <a:endParaRPr lang="en-US" altLang="zh-TW" sz="2800" dirty="0">
              <a:solidFill>
                <a:srgbClr val="1F54E9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0633586" y="3628102"/>
            <a:ext cx="1371601" cy="3229897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9556955" y="2005780"/>
            <a:ext cx="1342103" cy="38345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下箭號 14"/>
          <p:cNvSpPr/>
          <p:nvPr/>
        </p:nvSpPr>
        <p:spPr>
          <a:xfrm>
            <a:off x="11194026" y="2757948"/>
            <a:ext cx="339213" cy="73742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93174"/>
            <a:ext cx="12161837" cy="616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圓角矩形 3"/>
          <p:cNvSpPr/>
          <p:nvPr/>
        </p:nvSpPr>
        <p:spPr>
          <a:xfrm>
            <a:off x="0" y="0"/>
            <a:ext cx="2837794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機台資訊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5147188" y="1699624"/>
            <a:ext cx="4513006" cy="1191061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5338916" y="1831711"/>
            <a:ext cx="4203290" cy="95410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點選按鈕新增、編輯或 刪除機台設備的使用狀態</a:t>
            </a:r>
            <a:endParaRPr lang="en-US" altLang="zh-TW" sz="2800" dirty="0">
              <a:solidFill>
                <a:srgbClr val="1F54E9"/>
              </a:solidFill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10250128" y="3672347"/>
            <a:ext cx="1371601" cy="1740311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>
            <a:off x="10334944" y="2623736"/>
            <a:ext cx="413190" cy="84065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9845040" y="2026920"/>
            <a:ext cx="914400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693175"/>
            <a:ext cx="12192000" cy="616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圓角矩形 3"/>
          <p:cNvSpPr/>
          <p:nvPr/>
        </p:nvSpPr>
        <p:spPr>
          <a:xfrm>
            <a:off x="0" y="0"/>
            <a:ext cx="2905432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料件採購</a:t>
            </a:r>
          </a:p>
        </p:txBody>
      </p:sp>
      <p:sp>
        <p:nvSpPr>
          <p:cNvPr id="5" name="圓角矩形 4"/>
          <p:cNvSpPr/>
          <p:nvPr/>
        </p:nvSpPr>
        <p:spPr>
          <a:xfrm>
            <a:off x="5043947" y="1345663"/>
            <a:ext cx="4321279" cy="1412285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250428" y="1551490"/>
            <a:ext cx="3982062" cy="95410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rgbClr val="1F54E9"/>
                </a:solidFill>
              </a:rPr>
              <a:t>點選按鈕新增、編輯 或 刪除物件採購資料</a:t>
            </a:r>
            <a:endParaRPr lang="en-US" altLang="zh-TW" sz="2800" dirty="0">
              <a:solidFill>
                <a:srgbClr val="1F54E9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0795819" y="3628102"/>
            <a:ext cx="1209368" cy="3229897"/>
          </a:xfrm>
          <a:prstGeom prst="roundRect">
            <a:avLst/>
          </a:prstGeom>
          <a:noFill/>
          <a:ln w="28575">
            <a:solidFill>
              <a:srgbClr val="FB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10795585" y="2580968"/>
            <a:ext cx="413190" cy="899652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9719187" y="1991032"/>
            <a:ext cx="1061884" cy="38345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29238"/>
            <a:ext cx="5045750" cy="21447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3"/>
            <a:endParaRPr 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588" y="3762240"/>
            <a:ext cx="2663906" cy="2144716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3"/>
            <a:endParaRPr 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546213" y="3738490"/>
            <a:ext cx="2286000" cy="21447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3"/>
            <a:endParaRPr 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-1" y="1631884"/>
            <a:ext cx="4981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083"/>
            <a:r>
              <a:rPr lang="en-US" sz="2800" dirty="0">
                <a:solidFill>
                  <a:prstClr val="white"/>
                </a:solidFill>
                <a:cs typeface="+mn-ea"/>
                <a:sym typeface="+mn-lt"/>
              </a:rPr>
              <a:t>People behind</a:t>
            </a:r>
          </a:p>
          <a:p>
            <a:pPr algn="ctr" defTabSz="914083"/>
            <a:r>
              <a:rPr lang="en-US" sz="2800" dirty="0">
                <a:solidFill>
                  <a:prstClr val="white"/>
                </a:solidFill>
                <a:cs typeface="+mn-ea"/>
                <a:sym typeface="+mn-lt"/>
              </a:rPr>
              <a:t>The Scenes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6484" y="2502610"/>
            <a:ext cx="4650826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TW" altLang="en-US" dirty="0">
                <a:solidFill>
                  <a:schemeClr val="bg2"/>
                </a:solidFill>
                <a:cs typeface="+mn-ea"/>
                <a:sym typeface="+mn-lt"/>
              </a:rPr>
              <a:t>組長</a:t>
            </a:r>
            <a:r>
              <a:rPr lang="zh-CN" altLang="en-US" dirty="0">
                <a:solidFill>
                  <a:schemeClr val="bg2"/>
                </a:solidFill>
                <a:cs typeface="+mn-ea"/>
                <a:sym typeface="+mn-lt"/>
              </a:rPr>
              <a:t>：</a:t>
            </a:r>
            <a:r>
              <a:rPr lang="zh-TW" altLang="en-US" dirty="0">
                <a:solidFill>
                  <a:schemeClr val="bg2"/>
                </a:solidFill>
                <a:cs typeface="+mn-ea"/>
                <a:sym typeface="+mn-lt"/>
              </a:rPr>
              <a:t>許馨予</a:t>
            </a:r>
            <a:endParaRPr lang="en-US" altLang="zh-TW" dirty="0">
              <a:solidFill>
                <a:schemeClr val="bg2"/>
              </a:solidFill>
              <a:cs typeface="+mn-ea"/>
              <a:sym typeface="+mn-lt"/>
            </a:endParaRPr>
          </a:p>
          <a:p>
            <a:pPr lvl="0" algn="ctr">
              <a:lnSpc>
                <a:spcPct val="130000"/>
              </a:lnSpc>
              <a:defRPr/>
            </a:pPr>
            <a:r>
              <a:rPr lang="zh-TW" altLang="en-US" dirty="0">
                <a:solidFill>
                  <a:schemeClr val="bg2"/>
                </a:solidFill>
                <a:cs typeface="+mn-ea"/>
                <a:sym typeface="+mn-lt"/>
              </a:rPr>
              <a:t>      黃桂珍、王崗嶸、朱莉貞、</a:t>
            </a:r>
            <a:endParaRPr lang="en-US" altLang="zh-TW" dirty="0">
              <a:solidFill>
                <a:schemeClr val="bg2"/>
              </a:solidFill>
              <a:cs typeface="+mn-ea"/>
              <a:sym typeface="+mn-lt"/>
            </a:endParaRPr>
          </a:p>
          <a:p>
            <a:pPr lvl="0" algn="ctr">
              <a:lnSpc>
                <a:spcPct val="130000"/>
              </a:lnSpc>
              <a:defRPr/>
            </a:pPr>
            <a:r>
              <a:rPr lang="zh-TW" altLang="en-US" dirty="0">
                <a:solidFill>
                  <a:schemeClr val="bg2"/>
                </a:solidFill>
                <a:cs typeface="+mn-ea"/>
                <a:sym typeface="+mn-lt"/>
              </a:rPr>
              <a:t>周柏伊、王宥寓、連呈烜</a:t>
            </a:r>
            <a:endParaRPr 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783031" y="4579280"/>
            <a:ext cx="1753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3"/>
            <a:r>
              <a:rPr lang="en-US" altLang="zh-TW" sz="2800" dirty="0">
                <a:solidFill>
                  <a:prstClr val="white"/>
                </a:solidFill>
                <a:cs typeface="+mn-ea"/>
                <a:sym typeface="+mn-lt"/>
              </a:rPr>
              <a:t>Creativity</a:t>
            </a:r>
          </a:p>
          <a:p>
            <a:pPr algn="ctr" defTabSz="914083"/>
            <a:r>
              <a:rPr lang="zh-TW" altLang="en-US" sz="2800" dirty="0">
                <a:solidFill>
                  <a:prstClr val="white"/>
                </a:solidFill>
                <a:cs typeface="+mn-ea"/>
                <a:sym typeface="+mn-lt"/>
              </a:rPr>
              <a:t>創  意</a:t>
            </a:r>
            <a:endParaRPr lang="en-US" sz="28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575938" y="3892103"/>
            <a:ext cx="47706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3"/>
            <a:r>
              <a:rPr lang="en-US" sz="6900" dirty="0">
                <a:solidFill>
                  <a:prstClr val="white"/>
                </a:solidFill>
                <a:cs typeface="+mn-ea"/>
                <a:sym typeface="+mn-lt"/>
              </a:rPr>
              <a:t>“</a:t>
            </a:r>
          </a:p>
        </p:txBody>
      </p:sp>
      <p:pic>
        <p:nvPicPr>
          <p:cNvPr id="9" name="图片占位符 8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图片占位符 12"/>
          <p:cNvPicPr>
            <a:picLocks noGrp="1" noChangeAspect="1"/>
          </p:cNvPicPr>
          <p:nvPr>
            <p:ph type="pic" sz="quarter" idx="17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4" name="图片占位符 13"/>
          <p:cNvPicPr>
            <a:picLocks noGrp="1" noChangeAspect="1"/>
          </p:cNvPicPr>
          <p:nvPr>
            <p:ph type="pic" sz="quarter" idx="18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0" name="图片占位符 9"/>
          <p:cNvPicPr>
            <a:picLocks noGrp="1" noChangeAspect="1"/>
          </p:cNvPicPr>
          <p:nvPr>
            <p:ph type="pic" sz="quarter" idx="14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1" name="图片占位符 10"/>
          <p:cNvPicPr>
            <a:picLocks noGrp="1" noChangeAspect="1"/>
          </p:cNvPicPr>
          <p:nvPr>
            <p:ph type="pic" sz="quarter" idx="1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2" name="图片占位符 11"/>
          <p:cNvPicPr>
            <a:picLocks noGrp="1" noChangeAspect="1"/>
          </p:cNvPicPr>
          <p:nvPr>
            <p:ph type="pic" sz="quarter" idx="16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8" name="TextBox 49"/>
          <p:cNvSpPr txBox="1"/>
          <p:nvPr/>
        </p:nvSpPr>
        <p:spPr>
          <a:xfrm>
            <a:off x="1065178" y="838036"/>
            <a:ext cx="7013610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TW" altLang="en-US" sz="2000" dirty="0">
                <a:solidFill>
                  <a:schemeClr val="tx2"/>
                </a:solidFill>
                <a:cs typeface="+mn-ea"/>
                <a:sym typeface="+mn-lt"/>
              </a:rPr>
              <a:t>歡迎關注  </a:t>
            </a:r>
            <a:r>
              <a:rPr lang="en-US" altLang="zh-TW" sz="2400" dirty="0" err="1">
                <a:solidFill>
                  <a:schemeClr val="tx2"/>
                </a:solidFill>
                <a:cs typeface="+mn-ea"/>
                <a:sym typeface="+mn-lt"/>
              </a:rPr>
              <a:t>iTech</a:t>
            </a:r>
            <a:r>
              <a:rPr lang="en-US" altLang="zh-TW" sz="2400" dirty="0">
                <a:solidFill>
                  <a:schemeClr val="tx2"/>
                </a:solidFill>
                <a:cs typeface="+mn-ea"/>
                <a:sym typeface="+mn-lt"/>
              </a:rPr>
              <a:t> System</a:t>
            </a:r>
            <a:endParaRPr 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9" name="TextBox 50"/>
          <p:cNvSpPr txBox="1"/>
          <p:nvPr/>
        </p:nvSpPr>
        <p:spPr>
          <a:xfrm>
            <a:off x="1065178" y="537556"/>
            <a:ext cx="4378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MAKE YOUR </a:t>
            </a:r>
            <a:r>
              <a:rPr lang="en-US" altLang="zh-TW" sz="1600" dirty="0">
                <a:solidFill>
                  <a:schemeClr val="accent1"/>
                </a:solidFill>
                <a:cs typeface="+mn-ea"/>
                <a:sym typeface="+mn-lt"/>
              </a:rPr>
              <a:t>FLOW</a:t>
            </a:r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 EASY</a:t>
            </a:r>
          </a:p>
        </p:txBody>
      </p:sp>
      <p:sp>
        <p:nvSpPr>
          <p:cNvPr id="20" name="Rectangle 51"/>
          <p:cNvSpPr/>
          <p:nvPr/>
        </p:nvSpPr>
        <p:spPr>
          <a:xfrm>
            <a:off x="935907" y="559459"/>
            <a:ext cx="70970" cy="6280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396987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/>
          <p:cNvGrpSpPr>
            <a:grpSpLocks noChangeAspect="1"/>
          </p:cNvGrpSpPr>
          <p:nvPr/>
        </p:nvGrpSpPr>
        <p:grpSpPr>
          <a:xfrm>
            <a:off x="6546233" y="1734290"/>
            <a:ext cx="4410903" cy="3553449"/>
            <a:chOff x="4300539" y="1984376"/>
            <a:chExt cx="3589338" cy="2890838"/>
          </a:xfrm>
        </p:grpSpPr>
        <p:sp>
          <p:nvSpPr>
            <p:cNvPr id="186" name="Freeform 5"/>
            <p:cNvSpPr/>
            <p:nvPr/>
          </p:nvSpPr>
          <p:spPr bwMode="auto">
            <a:xfrm>
              <a:off x="4300539" y="1984376"/>
              <a:ext cx="3589338" cy="2170113"/>
            </a:xfrm>
            <a:custGeom>
              <a:avLst/>
              <a:gdLst>
                <a:gd name="T0" fmla="*/ 2537 w 2537"/>
                <a:gd name="T1" fmla="*/ 1533 h 1533"/>
                <a:gd name="T2" fmla="*/ 2537 w 2537"/>
                <a:gd name="T3" fmla="*/ 71 h 1533"/>
                <a:gd name="T4" fmla="*/ 2467 w 2537"/>
                <a:gd name="T5" fmla="*/ 0 h 1533"/>
                <a:gd name="T6" fmla="*/ 71 w 2537"/>
                <a:gd name="T7" fmla="*/ 0 h 1533"/>
                <a:gd name="T8" fmla="*/ 0 w 2537"/>
                <a:gd name="T9" fmla="*/ 71 h 1533"/>
                <a:gd name="T10" fmla="*/ 0 w 2537"/>
                <a:gd name="T11" fmla="*/ 1533 h 1533"/>
                <a:gd name="T12" fmla="*/ 2537 w 2537"/>
                <a:gd name="T13" fmla="*/ 1533 h 1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1533">
                  <a:moveTo>
                    <a:pt x="2537" y="1533"/>
                  </a:moveTo>
                  <a:cubicBezTo>
                    <a:pt x="2537" y="71"/>
                    <a:pt x="2537" y="71"/>
                    <a:pt x="2537" y="71"/>
                  </a:cubicBezTo>
                  <a:cubicBezTo>
                    <a:pt x="2537" y="32"/>
                    <a:pt x="2506" y="0"/>
                    <a:pt x="2467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1533"/>
                    <a:pt x="0" y="1533"/>
                    <a:pt x="0" y="1533"/>
                  </a:cubicBezTo>
                  <a:lnTo>
                    <a:pt x="2537" y="153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87" name="Freeform 6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close/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88" name="Freeform 7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89" name="Rectangle 8"/>
            <p:cNvSpPr>
              <a:spLocks noChangeArrowheads="1"/>
            </p:cNvSpPr>
            <p:nvPr/>
          </p:nvSpPr>
          <p:spPr bwMode="auto">
            <a:xfrm>
              <a:off x="4456114" y="2147889"/>
              <a:ext cx="3278188" cy="1841500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0" name="Freeform 9"/>
            <p:cNvSpPr/>
            <p:nvPr/>
          </p:nvSpPr>
          <p:spPr bwMode="auto">
            <a:xfrm>
              <a:off x="5484814" y="4826001"/>
              <a:ext cx="1208088" cy="49213"/>
            </a:xfrm>
            <a:custGeom>
              <a:avLst/>
              <a:gdLst>
                <a:gd name="T0" fmla="*/ 852 w 854"/>
                <a:gd name="T1" fmla="*/ 24 h 35"/>
                <a:gd name="T2" fmla="*/ 478 w 854"/>
                <a:gd name="T3" fmla="*/ 5 h 35"/>
                <a:gd name="T4" fmla="*/ 478 w 854"/>
                <a:gd name="T5" fmla="*/ 0 h 35"/>
                <a:gd name="T6" fmla="*/ 427 w 854"/>
                <a:gd name="T7" fmla="*/ 3 h 35"/>
                <a:gd name="T8" fmla="*/ 375 w 854"/>
                <a:gd name="T9" fmla="*/ 0 h 35"/>
                <a:gd name="T10" fmla="*/ 375 w 854"/>
                <a:gd name="T11" fmla="*/ 5 h 35"/>
                <a:gd name="T12" fmla="*/ 1 w 854"/>
                <a:gd name="T13" fmla="*/ 24 h 35"/>
                <a:gd name="T14" fmla="*/ 24 w 854"/>
                <a:gd name="T15" fmla="*/ 35 h 35"/>
                <a:gd name="T16" fmla="*/ 375 w 854"/>
                <a:gd name="T17" fmla="*/ 35 h 35"/>
                <a:gd name="T18" fmla="*/ 478 w 854"/>
                <a:gd name="T19" fmla="*/ 35 h 35"/>
                <a:gd name="T20" fmla="*/ 829 w 854"/>
                <a:gd name="T21" fmla="*/ 35 h 35"/>
                <a:gd name="T22" fmla="*/ 852 w 854"/>
                <a:gd name="T23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4" h="35">
                  <a:moveTo>
                    <a:pt x="852" y="24"/>
                  </a:moveTo>
                  <a:cubicBezTo>
                    <a:pt x="478" y="5"/>
                    <a:pt x="478" y="5"/>
                    <a:pt x="478" y="5"/>
                  </a:cubicBezTo>
                  <a:cubicBezTo>
                    <a:pt x="478" y="0"/>
                    <a:pt x="478" y="0"/>
                    <a:pt x="478" y="0"/>
                  </a:cubicBezTo>
                  <a:cubicBezTo>
                    <a:pt x="427" y="3"/>
                    <a:pt x="427" y="3"/>
                    <a:pt x="427" y="3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5"/>
                    <a:pt x="375" y="5"/>
                    <a:pt x="375" y="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0" y="35"/>
                    <a:pt x="24" y="35"/>
                  </a:cubicBezTo>
                  <a:cubicBezTo>
                    <a:pt x="41" y="35"/>
                    <a:pt x="247" y="35"/>
                    <a:pt x="375" y="35"/>
                  </a:cubicBezTo>
                  <a:cubicBezTo>
                    <a:pt x="435" y="35"/>
                    <a:pt x="478" y="35"/>
                    <a:pt x="478" y="35"/>
                  </a:cubicBezTo>
                  <a:cubicBezTo>
                    <a:pt x="606" y="35"/>
                    <a:pt x="812" y="35"/>
                    <a:pt x="829" y="35"/>
                  </a:cubicBezTo>
                  <a:cubicBezTo>
                    <a:pt x="854" y="35"/>
                    <a:pt x="852" y="24"/>
                    <a:pt x="852" y="24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1" name="Freeform 10"/>
            <p:cNvSpPr/>
            <p:nvPr/>
          </p:nvSpPr>
          <p:spPr bwMode="auto">
            <a:xfrm>
              <a:off x="5478464" y="4446589"/>
              <a:ext cx="1219200" cy="417513"/>
            </a:xfrm>
            <a:custGeom>
              <a:avLst/>
              <a:gdLst>
                <a:gd name="T0" fmla="*/ 790 w 861"/>
                <a:gd name="T1" fmla="*/ 274 h 295"/>
                <a:gd name="T2" fmla="*/ 738 w 861"/>
                <a:gd name="T3" fmla="*/ 224 h 295"/>
                <a:gd name="T4" fmla="*/ 714 w 861"/>
                <a:gd name="T5" fmla="*/ 0 h 295"/>
                <a:gd name="T6" fmla="*/ 431 w 861"/>
                <a:gd name="T7" fmla="*/ 4 h 295"/>
                <a:gd name="T8" fmla="*/ 147 w 861"/>
                <a:gd name="T9" fmla="*/ 0 h 295"/>
                <a:gd name="T10" fmla="*/ 124 w 861"/>
                <a:gd name="T11" fmla="*/ 224 h 295"/>
                <a:gd name="T12" fmla="*/ 72 w 861"/>
                <a:gd name="T13" fmla="*/ 274 h 295"/>
                <a:gd name="T14" fmla="*/ 0 w 861"/>
                <a:gd name="T15" fmla="*/ 291 h 295"/>
                <a:gd name="T16" fmla="*/ 0 w 861"/>
                <a:gd name="T17" fmla="*/ 295 h 295"/>
                <a:gd name="T18" fmla="*/ 379 w 861"/>
                <a:gd name="T19" fmla="*/ 295 h 295"/>
                <a:gd name="T20" fmla="*/ 482 w 861"/>
                <a:gd name="T21" fmla="*/ 295 h 295"/>
                <a:gd name="T22" fmla="*/ 861 w 861"/>
                <a:gd name="T23" fmla="*/ 295 h 295"/>
                <a:gd name="T24" fmla="*/ 861 w 861"/>
                <a:gd name="T25" fmla="*/ 291 h 295"/>
                <a:gd name="T26" fmla="*/ 790 w 861"/>
                <a:gd name="T27" fmla="*/ 27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1" h="295">
                  <a:moveTo>
                    <a:pt x="790" y="274"/>
                  </a:moveTo>
                  <a:cubicBezTo>
                    <a:pt x="760" y="268"/>
                    <a:pt x="744" y="271"/>
                    <a:pt x="738" y="224"/>
                  </a:cubicBezTo>
                  <a:cubicBezTo>
                    <a:pt x="731" y="177"/>
                    <a:pt x="714" y="0"/>
                    <a:pt x="714" y="0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82" y="295"/>
                    <a:pt x="482" y="295"/>
                    <a:pt x="482" y="295"/>
                  </a:cubicBezTo>
                  <a:cubicBezTo>
                    <a:pt x="861" y="295"/>
                    <a:pt x="861" y="295"/>
                    <a:pt x="861" y="295"/>
                  </a:cubicBezTo>
                  <a:cubicBezTo>
                    <a:pt x="861" y="295"/>
                    <a:pt x="861" y="295"/>
                    <a:pt x="861" y="291"/>
                  </a:cubicBezTo>
                  <a:cubicBezTo>
                    <a:pt x="861" y="287"/>
                    <a:pt x="820" y="280"/>
                    <a:pt x="790" y="274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2" name="Oval 11"/>
            <p:cNvSpPr>
              <a:spLocks noChangeArrowheads="1"/>
            </p:cNvSpPr>
            <p:nvPr/>
          </p:nvSpPr>
          <p:spPr bwMode="auto">
            <a:xfrm>
              <a:off x="6070602" y="2044701"/>
              <a:ext cx="49213" cy="4921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3" name="Oval 12"/>
            <p:cNvSpPr>
              <a:spLocks noChangeArrowheads="1"/>
            </p:cNvSpPr>
            <p:nvPr/>
          </p:nvSpPr>
          <p:spPr bwMode="auto">
            <a:xfrm>
              <a:off x="6070602" y="2041526"/>
              <a:ext cx="49213" cy="4921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4" name="Oval 13"/>
            <p:cNvSpPr>
              <a:spLocks noChangeArrowheads="1"/>
            </p:cNvSpPr>
            <p:nvPr/>
          </p:nvSpPr>
          <p:spPr bwMode="auto">
            <a:xfrm>
              <a:off x="6078539" y="2049464"/>
              <a:ext cx="33338" cy="317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5" name="Oval 14"/>
            <p:cNvSpPr>
              <a:spLocks noChangeArrowheads="1"/>
            </p:cNvSpPr>
            <p:nvPr/>
          </p:nvSpPr>
          <p:spPr bwMode="auto">
            <a:xfrm>
              <a:off x="6088064" y="2055814"/>
              <a:ext cx="15875" cy="190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6" name="Oval 15"/>
            <p:cNvSpPr>
              <a:spLocks noChangeArrowheads="1"/>
            </p:cNvSpPr>
            <p:nvPr/>
          </p:nvSpPr>
          <p:spPr bwMode="auto">
            <a:xfrm>
              <a:off x="6092827" y="2063751"/>
              <a:ext cx="4763" cy="47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7" name="Freeform 16"/>
            <p:cNvSpPr/>
            <p:nvPr/>
          </p:nvSpPr>
          <p:spPr bwMode="auto">
            <a:xfrm>
              <a:off x="5478464" y="4446589"/>
              <a:ext cx="985838" cy="417513"/>
            </a:xfrm>
            <a:custGeom>
              <a:avLst/>
              <a:gdLst>
                <a:gd name="T0" fmla="*/ 696 w 696"/>
                <a:gd name="T1" fmla="*/ 10 h 295"/>
                <a:gd name="T2" fmla="*/ 573 w 696"/>
                <a:gd name="T3" fmla="*/ 2 h 295"/>
                <a:gd name="T4" fmla="*/ 431 w 696"/>
                <a:gd name="T5" fmla="*/ 4 h 295"/>
                <a:gd name="T6" fmla="*/ 147 w 696"/>
                <a:gd name="T7" fmla="*/ 0 h 295"/>
                <a:gd name="T8" fmla="*/ 124 w 696"/>
                <a:gd name="T9" fmla="*/ 224 h 295"/>
                <a:gd name="T10" fmla="*/ 72 w 696"/>
                <a:gd name="T11" fmla="*/ 274 h 295"/>
                <a:gd name="T12" fmla="*/ 0 w 696"/>
                <a:gd name="T13" fmla="*/ 291 h 295"/>
                <a:gd name="T14" fmla="*/ 0 w 696"/>
                <a:gd name="T15" fmla="*/ 295 h 295"/>
                <a:gd name="T16" fmla="*/ 379 w 696"/>
                <a:gd name="T17" fmla="*/ 295 h 295"/>
                <a:gd name="T18" fmla="*/ 432 w 696"/>
                <a:gd name="T19" fmla="*/ 295 h 295"/>
                <a:gd name="T20" fmla="*/ 696 w 696"/>
                <a:gd name="T21" fmla="*/ 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6" h="295">
                  <a:moveTo>
                    <a:pt x="696" y="10"/>
                  </a:moveTo>
                  <a:cubicBezTo>
                    <a:pt x="573" y="2"/>
                    <a:pt x="573" y="2"/>
                    <a:pt x="573" y="2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32" y="295"/>
                    <a:pt x="432" y="295"/>
                    <a:pt x="432" y="295"/>
                  </a:cubicBezTo>
                  <a:lnTo>
                    <a:pt x="696" y="10"/>
                  </a:lnTo>
                  <a:close/>
                </a:path>
              </a:pathLst>
            </a:custGeom>
            <a:solidFill>
              <a:srgbClr val="A8A9AA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98" name="Freeform 17"/>
            <p:cNvSpPr/>
            <p:nvPr/>
          </p:nvSpPr>
          <p:spPr bwMode="auto">
            <a:xfrm>
              <a:off x="4300539" y="4154489"/>
              <a:ext cx="3589338" cy="341313"/>
            </a:xfrm>
            <a:custGeom>
              <a:avLst/>
              <a:gdLst>
                <a:gd name="T0" fmla="*/ 0 w 2537"/>
                <a:gd name="T1" fmla="*/ 0 h 241"/>
                <a:gd name="T2" fmla="*/ 0 w 2537"/>
                <a:gd name="T3" fmla="*/ 170 h 241"/>
                <a:gd name="T4" fmla="*/ 71 w 2537"/>
                <a:gd name="T5" fmla="*/ 241 h 241"/>
                <a:gd name="T6" fmla="*/ 2467 w 2537"/>
                <a:gd name="T7" fmla="*/ 241 h 241"/>
                <a:gd name="T8" fmla="*/ 2537 w 2537"/>
                <a:gd name="T9" fmla="*/ 170 h 241"/>
                <a:gd name="T10" fmla="*/ 2537 w 2537"/>
                <a:gd name="T11" fmla="*/ 0 h 241"/>
                <a:gd name="T12" fmla="*/ 0 w 2537"/>
                <a:gd name="T1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241">
                  <a:moveTo>
                    <a:pt x="0" y="0"/>
                  </a:moveTo>
                  <a:cubicBezTo>
                    <a:pt x="0" y="170"/>
                    <a:pt x="0" y="170"/>
                    <a:pt x="0" y="170"/>
                  </a:cubicBezTo>
                  <a:cubicBezTo>
                    <a:pt x="0" y="209"/>
                    <a:pt x="32" y="241"/>
                    <a:pt x="71" y="241"/>
                  </a:cubicBezTo>
                  <a:cubicBezTo>
                    <a:pt x="2467" y="241"/>
                    <a:pt x="2467" y="241"/>
                    <a:pt x="2467" y="241"/>
                  </a:cubicBezTo>
                  <a:cubicBezTo>
                    <a:pt x="2506" y="241"/>
                    <a:pt x="2537" y="209"/>
                    <a:pt x="2537" y="170"/>
                  </a:cubicBezTo>
                  <a:cubicBezTo>
                    <a:pt x="2537" y="0"/>
                    <a:pt x="2537" y="0"/>
                    <a:pt x="253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1219554" y="1734290"/>
            <a:ext cx="4360630" cy="3553449"/>
            <a:chOff x="4300539" y="1984376"/>
            <a:chExt cx="3589338" cy="2890838"/>
          </a:xfrm>
        </p:grpSpPr>
        <p:sp>
          <p:nvSpPr>
            <p:cNvPr id="89" name="Freeform 5"/>
            <p:cNvSpPr/>
            <p:nvPr/>
          </p:nvSpPr>
          <p:spPr bwMode="auto">
            <a:xfrm>
              <a:off x="4300539" y="1984376"/>
              <a:ext cx="3589338" cy="2170113"/>
            </a:xfrm>
            <a:custGeom>
              <a:avLst/>
              <a:gdLst>
                <a:gd name="T0" fmla="*/ 2537 w 2537"/>
                <a:gd name="T1" fmla="*/ 1533 h 1533"/>
                <a:gd name="T2" fmla="*/ 2537 w 2537"/>
                <a:gd name="T3" fmla="*/ 71 h 1533"/>
                <a:gd name="T4" fmla="*/ 2467 w 2537"/>
                <a:gd name="T5" fmla="*/ 0 h 1533"/>
                <a:gd name="T6" fmla="*/ 71 w 2537"/>
                <a:gd name="T7" fmla="*/ 0 h 1533"/>
                <a:gd name="T8" fmla="*/ 0 w 2537"/>
                <a:gd name="T9" fmla="*/ 71 h 1533"/>
                <a:gd name="T10" fmla="*/ 0 w 2537"/>
                <a:gd name="T11" fmla="*/ 1533 h 1533"/>
                <a:gd name="T12" fmla="*/ 2537 w 2537"/>
                <a:gd name="T13" fmla="*/ 1533 h 1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1533">
                  <a:moveTo>
                    <a:pt x="2537" y="1533"/>
                  </a:moveTo>
                  <a:cubicBezTo>
                    <a:pt x="2537" y="71"/>
                    <a:pt x="2537" y="71"/>
                    <a:pt x="2537" y="71"/>
                  </a:cubicBezTo>
                  <a:cubicBezTo>
                    <a:pt x="2537" y="32"/>
                    <a:pt x="2506" y="0"/>
                    <a:pt x="2467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1533"/>
                    <a:pt x="0" y="1533"/>
                    <a:pt x="0" y="1533"/>
                  </a:cubicBezTo>
                  <a:lnTo>
                    <a:pt x="2537" y="153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0" name="Freeform 6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close/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1" name="Freeform 7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2" name="Rectangle 8"/>
            <p:cNvSpPr>
              <a:spLocks noChangeArrowheads="1"/>
            </p:cNvSpPr>
            <p:nvPr/>
          </p:nvSpPr>
          <p:spPr bwMode="auto">
            <a:xfrm>
              <a:off x="4456114" y="2147889"/>
              <a:ext cx="3278188" cy="1841500"/>
            </a:xfrm>
            <a:prstGeom prst="rect">
              <a:avLst/>
            </a:prstGeom>
            <a:solidFill>
              <a:srgbClr val="7E7E7E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3" name="Freeform 9"/>
            <p:cNvSpPr/>
            <p:nvPr/>
          </p:nvSpPr>
          <p:spPr bwMode="auto">
            <a:xfrm>
              <a:off x="5484814" y="4826001"/>
              <a:ext cx="1208088" cy="49213"/>
            </a:xfrm>
            <a:custGeom>
              <a:avLst/>
              <a:gdLst>
                <a:gd name="T0" fmla="*/ 852 w 854"/>
                <a:gd name="T1" fmla="*/ 24 h 35"/>
                <a:gd name="T2" fmla="*/ 478 w 854"/>
                <a:gd name="T3" fmla="*/ 5 h 35"/>
                <a:gd name="T4" fmla="*/ 478 w 854"/>
                <a:gd name="T5" fmla="*/ 0 h 35"/>
                <a:gd name="T6" fmla="*/ 427 w 854"/>
                <a:gd name="T7" fmla="*/ 3 h 35"/>
                <a:gd name="T8" fmla="*/ 375 w 854"/>
                <a:gd name="T9" fmla="*/ 0 h 35"/>
                <a:gd name="T10" fmla="*/ 375 w 854"/>
                <a:gd name="T11" fmla="*/ 5 h 35"/>
                <a:gd name="T12" fmla="*/ 1 w 854"/>
                <a:gd name="T13" fmla="*/ 24 h 35"/>
                <a:gd name="T14" fmla="*/ 24 w 854"/>
                <a:gd name="T15" fmla="*/ 35 h 35"/>
                <a:gd name="T16" fmla="*/ 375 w 854"/>
                <a:gd name="T17" fmla="*/ 35 h 35"/>
                <a:gd name="T18" fmla="*/ 478 w 854"/>
                <a:gd name="T19" fmla="*/ 35 h 35"/>
                <a:gd name="T20" fmla="*/ 829 w 854"/>
                <a:gd name="T21" fmla="*/ 35 h 35"/>
                <a:gd name="T22" fmla="*/ 852 w 854"/>
                <a:gd name="T23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4" h="35">
                  <a:moveTo>
                    <a:pt x="852" y="24"/>
                  </a:moveTo>
                  <a:cubicBezTo>
                    <a:pt x="478" y="5"/>
                    <a:pt x="478" y="5"/>
                    <a:pt x="478" y="5"/>
                  </a:cubicBezTo>
                  <a:cubicBezTo>
                    <a:pt x="478" y="0"/>
                    <a:pt x="478" y="0"/>
                    <a:pt x="478" y="0"/>
                  </a:cubicBezTo>
                  <a:cubicBezTo>
                    <a:pt x="427" y="3"/>
                    <a:pt x="427" y="3"/>
                    <a:pt x="427" y="3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5"/>
                    <a:pt x="375" y="5"/>
                    <a:pt x="375" y="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0" y="35"/>
                    <a:pt x="24" y="35"/>
                  </a:cubicBezTo>
                  <a:cubicBezTo>
                    <a:pt x="41" y="35"/>
                    <a:pt x="247" y="35"/>
                    <a:pt x="375" y="35"/>
                  </a:cubicBezTo>
                  <a:cubicBezTo>
                    <a:pt x="435" y="35"/>
                    <a:pt x="478" y="35"/>
                    <a:pt x="478" y="35"/>
                  </a:cubicBezTo>
                  <a:cubicBezTo>
                    <a:pt x="606" y="35"/>
                    <a:pt x="812" y="35"/>
                    <a:pt x="829" y="35"/>
                  </a:cubicBezTo>
                  <a:cubicBezTo>
                    <a:pt x="854" y="35"/>
                    <a:pt x="852" y="24"/>
                    <a:pt x="852" y="24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4" name="Freeform 10"/>
            <p:cNvSpPr/>
            <p:nvPr/>
          </p:nvSpPr>
          <p:spPr bwMode="auto">
            <a:xfrm>
              <a:off x="5478464" y="4446589"/>
              <a:ext cx="1219200" cy="417513"/>
            </a:xfrm>
            <a:custGeom>
              <a:avLst/>
              <a:gdLst>
                <a:gd name="T0" fmla="*/ 790 w 861"/>
                <a:gd name="T1" fmla="*/ 274 h 295"/>
                <a:gd name="T2" fmla="*/ 738 w 861"/>
                <a:gd name="T3" fmla="*/ 224 h 295"/>
                <a:gd name="T4" fmla="*/ 714 w 861"/>
                <a:gd name="T5" fmla="*/ 0 h 295"/>
                <a:gd name="T6" fmla="*/ 431 w 861"/>
                <a:gd name="T7" fmla="*/ 4 h 295"/>
                <a:gd name="T8" fmla="*/ 147 w 861"/>
                <a:gd name="T9" fmla="*/ 0 h 295"/>
                <a:gd name="T10" fmla="*/ 124 w 861"/>
                <a:gd name="T11" fmla="*/ 224 h 295"/>
                <a:gd name="T12" fmla="*/ 72 w 861"/>
                <a:gd name="T13" fmla="*/ 274 h 295"/>
                <a:gd name="T14" fmla="*/ 0 w 861"/>
                <a:gd name="T15" fmla="*/ 291 h 295"/>
                <a:gd name="T16" fmla="*/ 0 w 861"/>
                <a:gd name="T17" fmla="*/ 295 h 295"/>
                <a:gd name="T18" fmla="*/ 379 w 861"/>
                <a:gd name="T19" fmla="*/ 295 h 295"/>
                <a:gd name="T20" fmla="*/ 482 w 861"/>
                <a:gd name="T21" fmla="*/ 295 h 295"/>
                <a:gd name="T22" fmla="*/ 861 w 861"/>
                <a:gd name="T23" fmla="*/ 295 h 295"/>
                <a:gd name="T24" fmla="*/ 861 w 861"/>
                <a:gd name="T25" fmla="*/ 291 h 295"/>
                <a:gd name="T26" fmla="*/ 790 w 861"/>
                <a:gd name="T27" fmla="*/ 27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1" h="295">
                  <a:moveTo>
                    <a:pt x="790" y="274"/>
                  </a:moveTo>
                  <a:cubicBezTo>
                    <a:pt x="760" y="268"/>
                    <a:pt x="744" y="271"/>
                    <a:pt x="738" y="224"/>
                  </a:cubicBezTo>
                  <a:cubicBezTo>
                    <a:pt x="731" y="177"/>
                    <a:pt x="714" y="0"/>
                    <a:pt x="714" y="0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82" y="295"/>
                    <a:pt x="482" y="295"/>
                    <a:pt x="482" y="295"/>
                  </a:cubicBezTo>
                  <a:cubicBezTo>
                    <a:pt x="861" y="295"/>
                    <a:pt x="861" y="295"/>
                    <a:pt x="861" y="295"/>
                  </a:cubicBezTo>
                  <a:cubicBezTo>
                    <a:pt x="861" y="295"/>
                    <a:pt x="861" y="295"/>
                    <a:pt x="861" y="291"/>
                  </a:cubicBezTo>
                  <a:cubicBezTo>
                    <a:pt x="861" y="287"/>
                    <a:pt x="820" y="280"/>
                    <a:pt x="790" y="274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5" name="Oval 11"/>
            <p:cNvSpPr>
              <a:spLocks noChangeArrowheads="1"/>
            </p:cNvSpPr>
            <p:nvPr/>
          </p:nvSpPr>
          <p:spPr bwMode="auto">
            <a:xfrm>
              <a:off x="6070602" y="2044701"/>
              <a:ext cx="49213" cy="4921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99" name="Oval 12"/>
            <p:cNvSpPr>
              <a:spLocks noChangeArrowheads="1"/>
            </p:cNvSpPr>
            <p:nvPr/>
          </p:nvSpPr>
          <p:spPr bwMode="auto">
            <a:xfrm>
              <a:off x="6070602" y="2041526"/>
              <a:ext cx="49213" cy="4921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02" name="Oval 13"/>
            <p:cNvSpPr>
              <a:spLocks noChangeArrowheads="1"/>
            </p:cNvSpPr>
            <p:nvPr/>
          </p:nvSpPr>
          <p:spPr bwMode="auto">
            <a:xfrm>
              <a:off x="6078539" y="2049464"/>
              <a:ext cx="33338" cy="317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03" name="Oval 14"/>
            <p:cNvSpPr>
              <a:spLocks noChangeArrowheads="1"/>
            </p:cNvSpPr>
            <p:nvPr/>
          </p:nvSpPr>
          <p:spPr bwMode="auto">
            <a:xfrm>
              <a:off x="6088064" y="2055814"/>
              <a:ext cx="15875" cy="190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04" name="Oval 15"/>
            <p:cNvSpPr>
              <a:spLocks noChangeArrowheads="1"/>
            </p:cNvSpPr>
            <p:nvPr/>
          </p:nvSpPr>
          <p:spPr bwMode="auto">
            <a:xfrm>
              <a:off x="6092827" y="2063751"/>
              <a:ext cx="4763" cy="47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05" name="Freeform 16"/>
            <p:cNvSpPr/>
            <p:nvPr/>
          </p:nvSpPr>
          <p:spPr bwMode="auto">
            <a:xfrm>
              <a:off x="5478464" y="4446589"/>
              <a:ext cx="985838" cy="417513"/>
            </a:xfrm>
            <a:custGeom>
              <a:avLst/>
              <a:gdLst>
                <a:gd name="T0" fmla="*/ 696 w 696"/>
                <a:gd name="T1" fmla="*/ 10 h 295"/>
                <a:gd name="T2" fmla="*/ 573 w 696"/>
                <a:gd name="T3" fmla="*/ 2 h 295"/>
                <a:gd name="T4" fmla="*/ 431 w 696"/>
                <a:gd name="T5" fmla="*/ 4 h 295"/>
                <a:gd name="T6" fmla="*/ 147 w 696"/>
                <a:gd name="T7" fmla="*/ 0 h 295"/>
                <a:gd name="T8" fmla="*/ 124 w 696"/>
                <a:gd name="T9" fmla="*/ 224 h 295"/>
                <a:gd name="T10" fmla="*/ 72 w 696"/>
                <a:gd name="T11" fmla="*/ 274 h 295"/>
                <a:gd name="T12" fmla="*/ 0 w 696"/>
                <a:gd name="T13" fmla="*/ 291 h 295"/>
                <a:gd name="T14" fmla="*/ 0 w 696"/>
                <a:gd name="T15" fmla="*/ 295 h 295"/>
                <a:gd name="T16" fmla="*/ 379 w 696"/>
                <a:gd name="T17" fmla="*/ 295 h 295"/>
                <a:gd name="T18" fmla="*/ 432 w 696"/>
                <a:gd name="T19" fmla="*/ 295 h 295"/>
                <a:gd name="T20" fmla="*/ 696 w 696"/>
                <a:gd name="T21" fmla="*/ 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6" h="295">
                  <a:moveTo>
                    <a:pt x="696" y="10"/>
                  </a:moveTo>
                  <a:cubicBezTo>
                    <a:pt x="573" y="2"/>
                    <a:pt x="573" y="2"/>
                    <a:pt x="573" y="2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32" y="295"/>
                    <a:pt x="432" y="295"/>
                    <a:pt x="432" y="295"/>
                  </a:cubicBezTo>
                  <a:lnTo>
                    <a:pt x="696" y="10"/>
                  </a:lnTo>
                  <a:close/>
                </a:path>
              </a:pathLst>
            </a:custGeom>
            <a:solidFill>
              <a:srgbClr val="A8A9AA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  <p:sp>
          <p:nvSpPr>
            <p:cNvPr id="106" name="Freeform 17"/>
            <p:cNvSpPr/>
            <p:nvPr/>
          </p:nvSpPr>
          <p:spPr bwMode="auto">
            <a:xfrm>
              <a:off x="4300539" y="4154489"/>
              <a:ext cx="3578122" cy="341313"/>
            </a:xfrm>
            <a:custGeom>
              <a:avLst/>
              <a:gdLst>
                <a:gd name="T0" fmla="*/ 0 w 2537"/>
                <a:gd name="T1" fmla="*/ 0 h 241"/>
                <a:gd name="T2" fmla="*/ 0 w 2537"/>
                <a:gd name="T3" fmla="*/ 170 h 241"/>
                <a:gd name="T4" fmla="*/ 71 w 2537"/>
                <a:gd name="T5" fmla="*/ 241 h 241"/>
                <a:gd name="T6" fmla="*/ 2467 w 2537"/>
                <a:gd name="T7" fmla="*/ 241 h 241"/>
                <a:gd name="T8" fmla="*/ 2537 w 2537"/>
                <a:gd name="T9" fmla="*/ 170 h 241"/>
                <a:gd name="T10" fmla="*/ 2537 w 2537"/>
                <a:gd name="T11" fmla="*/ 0 h 241"/>
                <a:gd name="T12" fmla="*/ 0 w 2537"/>
                <a:gd name="T1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241">
                  <a:moveTo>
                    <a:pt x="0" y="0"/>
                  </a:moveTo>
                  <a:cubicBezTo>
                    <a:pt x="0" y="170"/>
                    <a:pt x="0" y="170"/>
                    <a:pt x="0" y="170"/>
                  </a:cubicBezTo>
                  <a:cubicBezTo>
                    <a:pt x="0" y="209"/>
                    <a:pt x="32" y="241"/>
                    <a:pt x="71" y="241"/>
                  </a:cubicBezTo>
                  <a:cubicBezTo>
                    <a:pt x="2467" y="241"/>
                    <a:pt x="2467" y="241"/>
                    <a:pt x="2467" y="241"/>
                  </a:cubicBezTo>
                  <a:cubicBezTo>
                    <a:pt x="2506" y="241"/>
                    <a:pt x="2537" y="209"/>
                    <a:pt x="2537" y="170"/>
                  </a:cubicBezTo>
                  <a:cubicBezTo>
                    <a:pt x="2537" y="0"/>
                    <a:pt x="2537" y="0"/>
                    <a:pt x="253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900" dirty="0">
                <a:cs typeface="+mn-ea"/>
                <a:sym typeface="+mn-lt"/>
              </a:endParaRPr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1208023" y="5400000"/>
            <a:ext cx="4422433" cy="1311110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400" dirty="0">
                <a:cs typeface="+mn-ea"/>
                <a:sym typeface="+mn-lt"/>
              </a:rPr>
              <a:t>Creativity is the key to success in the future</a:t>
            </a:r>
          </a:p>
          <a:p>
            <a:pPr algn="ctr">
              <a:lnSpc>
                <a:spcPct val="110000"/>
              </a:lnSpc>
            </a:pPr>
            <a:r>
              <a:rPr lang="zh-TW" altLang="en-US" sz="2400" dirty="0">
                <a:cs typeface="+mn-ea"/>
                <a:sym typeface="+mn-lt"/>
              </a:rPr>
              <a:t>創意是未來成功之鑰</a:t>
            </a:r>
            <a:endParaRPr lang="en-US" sz="2400" dirty="0">
              <a:cs typeface="+mn-ea"/>
              <a:sym typeface="+mn-lt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317672" y="5400000"/>
            <a:ext cx="4678878" cy="1289053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400" dirty="0">
                <a:cs typeface="+mn-ea"/>
                <a:sym typeface="+mn-lt"/>
              </a:rPr>
              <a:t>Bring creativity into your life at that level keep growing</a:t>
            </a:r>
          </a:p>
          <a:p>
            <a:pPr algn="ctr">
              <a:lnSpc>
                <a:spcPct val="110000"/>
              </a:lnSpc>
            </a:pPr>
            <a:r>
              <a:rPr lang="zh-TW" altLang="en-US" sz="2400" dirty="0">
                <a:cs typeface="+mn-ea"/>
                <a:sym typeface="+mn-lt"/>
              </a:rPr>
              <a:t>在生活中運用創意  持續成長</a:t>
            </a:r>
            <a:endParaRPr lang="en-US" sz="2400" dirty="0">
              <a:cs typeface="+mn-ea"/>
              <a:sym typeface="+mn-lt"/>
            </a:endParaRPr>
          </a:p>
        </p:txBody>
      </p:sp>
      <p:pic>
        <p:nvPicPr>
          <p:cNvPr id="4" name="图片占位符 3"/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5" name="图片占位符 4"/>
          <p:cNvPicPr>
            <a:picLocks noGrp="1" noChangeAspect="1"/>
          </p:cNvPicPr>
          <p:nvPr>
            <p:ph type="pic" sz="quarter" idx="16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Box 49"/>
          <p:cNvSpPr txBox="1"/>
          <p:nvPr/>
        </p:nvSpPr>
        <p:spPr>
          <a:xfrm>
            <a:off x="1065178" y="838036"/>
            <a:ext cx="7013610" cy="393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zh-TW" altLang="en-US" sz="2000" dirty="0">
                <a:solidFill>
                  <a:schemeClr val="tx2"/>
                </a:solidFill>
                <a:cs typeface="+mn-ea"/>
                <a:sym typeface="+mn-lt"/>
              </a:rPr>
              <a:t>歡迎關注</a:t>
            </a:r>
            <a:r>
              <a:rPr lang="zh-TW" altLang="en-US" sz="2400" dirty="0">
                <a:solidFill>
                  <a:schemeClr val="tx2"/>
                </a:solidFill>
                <a:cs typeface="+mn-ea"/>
                <a:sym typeface="+mn-lt"/>
              </a:rPr>
              <a:t>  </a:t>
            </a:r>
            <a:r>
              <a:rPr lang="en-US" altLang="zh-TW" sz="2400" dirty="0" err="1">
                <a:solidFill>
                  <a:schemeClr val="tx2"/>
                </a:solidFill>
                <a:cs typeface="+mn-ea"/>
                <a:sym typeface="+mn-lt"/>
              </a:rPr>
              <a:t>iTech</a:t>
            </a:r>
            <a:r>
              <a:rPr lang="en-US" altLang="zh-TW" sz="2400" dirty="0">
                <a:solidFill>
                  <a:schemeClr val="tx2"/>
                </a:solidFill>
                <a:cs typeface="+mn-ea"/>
                <a:sym typeface="+mn-lt"/>
              </a:rPr>
              <a:t> System</a:t>
            </a:r>
            <a:endParaRPr lang="en-US" sz="24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42" name="Rectangle 51"/>
          <p:cNvSpPr/>
          <p:nvPr/>
        </p:nvSpPr>
        <p:spPr>
          <a:xfrm>
            <a:off x="935907" y="559459"/>
            <a:ext cx="70970" cy="6280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>
              <a:cs typeface="+mn-ea"/>
              <a:sym typeface="+mn-lt"/>
            </a:endParaRPr>
          </a:p>
        </p:txBody>
      </p:sp>
      <p:sp>
        <p:nvSpPr>
          <p:cNvPr id="39" name="TextBox 50"/>
          <p:cNvSpPr txBox="1"/>
          <p:nvPr/>
        </p:nvSpPr>
        <p:spPr>
          <a:xfrm>
            <a:off x="1170282" y="453473"/>
            <a:ext cx="4378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MAKE YOUR </a:t>
            </a:r>
            <a:r>
              <a:rPr lang="en-US" altLang="zh-TW" sz="1600" dirty="0">
                <a:solidFill>
                  <a:schemeClr val="accent1"/>
                </a:solidFill>
                <a:cs typeface="+mn-ea"/>
                <a:sym typeface="+mn-lt"/>
              </a:rPr>
              <a:t>FLOW</a:t>
            </a:r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 EASY</a:t>
            </a:r>
          </a:p>
        </p:txBody>
      </p:sp>
    </p:spTree>
    <p:extLst>
      <p:ext uri="{BB962C8B-B14F-4D97-AF65-F5344CB8AC3E}">
        <p14:creationId xmlns:p14="http://schemas.microsoft.com/office/powerpoint/2010/main" val="1031065563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5_1"/>
          <p:cNvSpPr/>
          <p:nvPr/>
        </p:nvSpPr>
        <p:spPr>
          <a:xfrm>
            <a:off x="3163156" y="339980"/>
            <a:ext cx="5897218" cy="5897218"/>
          </a:xfrm>
          <a:prstGeom prst="ellipse">
            <a:avLst/>
          </a:prstGeom>
          <a:solidFill>
            <a:srgbClr val="000066">
              <a:alpha val="7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941677" y="1366524"/>
            <a:ext cx="2262159" cy="15635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2020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530257" y="2687593"/>
            <a:ext cx="531427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000" b="1" dirty="0">
                <a:solidFill>
                  <a:schemeClr val="bg2"/>
                </a:solidFill>
                <a:cs typeface="+mn-ea"/>
                <a:sym typeface="+mn-lt"/>
              </a:rPr>
              <a:t>歡迎關注</a:t>
            </a:r>
            <a:r>
              <a:rPr lang="zh-CN" altLang="en-US" sz="4000" b="1" noProof="0" dirty="0">
                <a:solidFill>
                  <a:schemeClr val="bg2"/>
                </a:solidFill>
                <a:cs typeface="+mn-ea"/>
                <a:sym typeface="+mn-lt"/>
              </a:rPr>
              <a:t>，有更多</a:t>
            </a:r>
            <a:r>
              <a:rPr lang="zh-TW" altLang="en-US" sz="4000" b="1" noProof="0" dirty="0">
                <a:solidFill>
                  <a:schemeClr val="bg2"/>
                </a:solidFill>
                <a:cs typeface="+mn-ea"/>
                <a:sym typeface="+mn-lt"/>
              </a:rPr>
              <a:t>驚喜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4453247" y="4322618"/>
            <a:ext cx="3467595" cy="836231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矩形 30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/>
          <p:nvPr/>
        </p:nvSpPr>
        <p:spPr>
          <a:xfrm>
            <a:off x="4192934" y="3841739"/>
            <a:ext cx="3782382" cy="444242"/>
          </a:xfrm>
          <a:prstGeom prst="rect">
            <a:avLst/>
          </a:prstGeom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 flipV="1">
            <a:off x="5599302" y="3709306"/>
            <a:ext cx="874644" cy="45719"/>
            <a:chOff x="5623052" y="4101192"/>
            <a:chExt cx="874644" cy="45719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5625548" y="3867892"/>
              <a:ext cx="219443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843428" y="3867892"/>
              <a:ext cx="219443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6061306" y="3867892"/>
              <a:ext cx="219443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6280749" y="3867892"/>
              <a:ext cx="219443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/>
        </p:nvSpPr>
        <p:spPr>
          <a:xfrm>
            <a:off x="5023262" y="4429497"/>
            <a:ext cx="2185059" cy="6768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b="1" dirty="0" err="1"/>
              <a:t>iTech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4757479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45476" y="882869"/>
            <a:ext cx="971681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400" b="1" dirty="0">
                <a:solidFill>
                  <a:srgbClr val="3333CC"/>
                </a:solidFill>
              </a:rPr>
              <a:t>使用案例</a:t>
            </a:r>
            <a:r>
              <a:rPr lang="zh-TW" altLang="en-US" sz="2400" dirty="0">
                <a:solidFill>
                  <a:srgbClr val="3333CC"/>
                </a:solidFill>
              </a:rPr>
              <a:t>（英語：</a:t>
            </a:r>
            <a:r>
              <a:rPr lang="en-US" altLang="zh-TW" sz="2400" b="1" dirty="0">
                <a:solidFill>
                  <a:srgbClr val="3333CC"/>
                </a:solidFill>
              </a:rPr>
              <a:t>use case</a:t>
            </a:r>
            <a:r>
              <a:rPr lang="zh-TW" altLang="en-US" sz="2400" dirty="0">
                <a:solidFill>
                  <a:srgbClr val="3333CC"/>
                </a:solidFill>
              </a:rPr>
              <a:t>）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TW" sz="2400" dirty="0">
                <a:solidFill>
                  <a:srgbClr val="3333CC"/>
                </a:solidFill>
              </a:rPr>
              <a:t>~~</a:t>
            </a:r>
            <a:r>
              <a:rPr lang="zh-TW" altLang="en-US" sz="2400" dirty="0">
                <a:solidFill>
                  <a:srgbClr val="3333CC"/>
                </a:solidFill>
              </a:rPr>
              <a:t>來源</a:t>
            </a:r>
            <a:r>
              <a:rPr lang="en-US" altLang="zh-TW" sz="2400" dirty="0">
                <a:solidFill>
                  <a:srgbClr val="3333CC"/>
                </a:solidFill>
              </a:rPr>
              <a:t>:</a:t>
            </a:r>
            <a:r>
              <a:rPr lang="zh-TW" altLang="en-US" sz="2400" dirty="0">
                <a:solidFill>
                  <a:srgbClr val="3333CC"/>
                </a:solidFill>
              </a:rPr>
              <a:t> 節錄自維基百科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400" dirty="0">
                <a:solidFill>
                  <a:srgbClr val="3333CC"/>
                </a:solidFill>
              </a:rPr>
              <a:t>是</a:t>
            </a:r>
            <a:r>
              <a:rPr lang="zh-TW" altLang="en-US" sz="2400" dirty="0">
                <a:solidFill>
                  <a:srgbClr val="3333CC"/>
                </a:solidFill>
                <a:hlinkClick r:id="rId2" tooltip="軟體工程"/>
              </a:rPr>
              <a:t>軟體工程</a:t>
            </a:r>
            <a:r>
              <a:rPr lang="zh-TW" altLang="en-US" sz="2400" dirty="0">
                <a:solidFill>
                  <a:srgbClr val="3333CC"/>
                </a:solidFill>
              </a:rPr>
              <a:t>中對系統如何反應外界請求的描述，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400" dirty="0">
                <a:solidFill>
                  <a:srgbClr val="3333CC"/>
                </a:solidFill>
              </a:rPr>
              <a:t>是一種通過用戶的使用場景來獲取</a:t>
            </a:r>
            <a:r>
              <a:rPr lang="zh-TW" altLang="en-US" sz="2400" dirty="0">
                <a:solidFill>
                  <a:srgbClr val="3333CC"/>
                </a:solidFill>
                <a:hlinkClick r:id="rId3" tooltip="需求分析"/>
              </a:rPr>
              <a:t>需求</a:t>
            </a:r>
            <a:r>
              <a:rPr lang="zh-TW" altLang="en-US" sz="2400" dirty="0">
                <a:solidFill>
                  <a:srgbClr val="3333CC"/>
                </a:solidFill>
              </a:rPr>
              <a:t>的技術。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400" dirty="0">
                <a:solidFill>
                  <a:srgbClr val="3333CC"/>
                </a:solidFill>
              </a:rPr>
              <a:t>每個用例提供了一個或多個</a:t>
            </a:r>
            <a:r>
              <a:rPr lang="zh-TW" altLang="en-US" sz="2400" i="1" dirty="0">
                <a:solidFill>
                  <a:srgbClr val="3333CC"/>
                </a:solidFill>
              </a:rPr>
              <a:t>場景</a:t>
            </a:r>
            <a:r>
              <a:rPr lang="zh-TW" altLang="en-US" sz="2400" dirty="0">
                <a:solidFill>
                  <a:srgbClr val="3333CC"/>
                </a:solidFill>
              </a:rPr>
              <a:t>，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400" dirty="0">
                <a:solidFill>
                  <a:srgbClr val="3333CC"/>
                </a:solidFill>
              </a:rPr>
              <a:t>該場景說明了系統是如何和最終用戶或其它系統互動，</a:t>
            </a:r>
            <a:endParaRPr lang="en-US" altLang="zh-TW" sz="2400" dirty="0">
              <a:solidFill>
                <a:srgbClr val="3333CC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TW" altLang="en-US" sz="2400" dirty="0">
                <a:solidFill>
                  <a:srgbClr val="3333CC"/>
                </a:solidFill>
              </a:rPr>
              <a:t>也就是誰可以用系統做什麼，從而獲得一個明確的業務目標。</a:t>
            </a:r>
            <a:endParaRPr lang="en-US" altLang="zh-TW" sz="2400" dirty="0">
              <a:solidFill>
                <a:srgbClr val="3333CC"/>
              </a:solidFill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0" y="0"/>
            <a:ext cx="2475186" cy="709448"/>
          </a:xfrm>
          <a:prstGeom prst="roundRect">
            <a:avLst/>
          </a:prstGeom>
          <a:solidFill>
            <a:srgbClr val="3333CC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/>
              <a:t>附錄一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1019">
      <a:dk1>
        <a:srgbClr val="737572"/>
      </a:dk1>
      <a:lt1>
        <a:sysClr val="window" lastClr="FFFFFF"/>
      </a:lt1>
      <a:dk2>
        <a:srgbClr val="445469"/>
      </a:dk2>
      <a:lt2>
        <a:srgbClr val="FFFFFF"/>
      </a:lt2>
      <a:accent1>
        <a:srgbClr val="FB4D52"/>
      </a:accent1>
      <a:accent2>
        <a:srgbClr val="445469"/>
      </a:accent2>
      <a:accent3>
        <a:srgbClr val="FB4D52"/>
      </a:accent3>
      <a:accent4>
        <a:srgbClr val="445469"/>
      </a:accent4>
      <a:accent5>
        <a:srgbClr val="FB4D52"/>
      </a:accent5>
      <a:accent6>
        <a:srgbClr val="445469"/>
      </a:accent6>
      <a:hlink>
        <a:srgbClr val="1E9272"/>
      </a:hlink>
      <a:folHlink>
        <a:srgbClr val="32FFBF"/>
      </a:folHlink>
    </a:clrScheme>
    <a:fontScheme name="自定义 10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718</Words>
  <Application>Microsoft Office PowerPoint</Application>
  <PresentationFormat>寬螢幕</PresentationFormat>
  <Paragraphs>139</Paragraphs>
  <Slides>29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等线</vt:lpstr>
      <vt:lpstr>微軟正黑體</vt:lpstr>
      <vt:lpstr>Arial</vt:lpstr>
      <vt:lpstr>Calibri</vt:lpstr>
      <vt:lpstr>Lato</vt:lpstr>
      <vt:lpstr>Lato Light</vt:lpstr>
      <vt:lpstr>Wingdings</vt:lpstr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Administrator</dc:creator>
  <cp:keywords>第一PPT模板网-WWW.1PPT.COM</cp:keywords>
  <cp:lastModifiedBy>Iris Wang</cp:lastModifiedBy>
  <cp:revision>270</cp:revision>
  <dcterms:created xsi:type="dcterms:W3CDTF">2016-12-13T08:41:51Z</dcterms:created>
  <dcterms:modified xsi:type="dcterms:W3CDTF">2026-10-17T06:38:44Z</dcterms:modified>
</cp:coreProperties>
</file>